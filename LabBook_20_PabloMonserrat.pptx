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7"/>
  </p:notesMasterIdLst>
  <p:handoutMasterIdLst>
    <p:handoutMasterId r:id="rId28"/>
  </p:handoutMasterIdLst>
  <p:sldIdLst>
    <p:sldId id="256" r:id="rId5"/>
    <p:sldId id="289" r:id="rId6"/>
    <p:sldId id="295" r:id="rId7"/>
    <p:sldId id="304" r:id="rId8"/>
    <p:sldId id="306" r:id="rId9"/>
    <p:sldId id="305" r:id="rId10"/>
    <p:sldId id="307" r:id="rId11"/>
    <p:sldId id="302" r:id="rId12"/>
    <p:sldId id="303" r:id="rId13"/>
    <p:sldId id="291" r:id="rId14"/>
    <p:sldId id="296" r:id="rId15"/>
    <p:sldId id="293" r:id="rId16"/>
    <p:sldId id="308" r:id="rId17"/>
    <p:sldId id="294" r:id="rId18"/>
    <p:sldId id="299" r:id="rId19"/>
    <p:sldId id="300" r:id="rId20"/>
    <p:sldId id="301" r:id="rId21"/>
    <p:sldId id="290" r:id="rId22"/>
    <p:sldId id="309" r:id="rId23"/>
    <p:sldId id="310" r:id="rId24"/>
    <p:sldId id="311" r:id="rId25"/>
    <p:sldId id="288" r:id="rId26"/>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63" d="100"/>
          <a:sy n="63" d="100"/>
        </p:scale>
        <p:origin x="1108" y="5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03/05/2026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03/05/2026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0E1CB-4380-09DA-B1F0-CB4B03A2EF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228C0D-B411-761D-8B9A-5690FEC1DCD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4E93492-098C-782F-6B0B-5A438637BDE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D96D2F8-8162-546B-1A02-4485059A722C}"/>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795048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CF4F9-CF55-3328-DAA5-0091850539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C3CE4DE-A0BA-9226-815B-C98AB183E49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957D472-1A76-A94C-7421-F8881631810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0C08B76-2E3F-5CE7-BE07-AAE254730E2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2247470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36C26-5CE5-AAFB-8541-A844050833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F0DA871-FD3B-34F2-A1E8-8FB91D0951F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ED4D4B3-F4D1-AB42-A1CA-3DD20466C2E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DE02F53-5E94-6493-7282-7D44E3EB7640}"/>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3159578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DB646-23BF-F15C-2735-CA5519C4F91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BDECDB-4DAD-9A0A-4338-314C61F14CC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FB4C354-FD7D-5811-7C94-3414CBFC057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9D033C6-4010-80F7-A4D4-A1D863D7C15D}"/>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40525325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NUL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sv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1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1.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sv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s>
</file>

<file path=ppt/slides/_rels/slide1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svg"/><Relationship Id="rId7"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s>
</file>

<file path=ppt/slides/_rels/slide2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svg"/><Relationship Id="rId7"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s>
</file>

<file path=ppt/slides/_rels/slide2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svg"/><Relationship Id="rId7"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a:latin typeface="Arial"/>
                <a:cs typeface="Arial"/>
              </a:rPr>
              <a:t>Student: Pablo Monserrat López-Cerón</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Terminal + ‘</a:t>
            </a:r>
            <a:r>
              <a:rPr lang="en-US" kern="0" dirty="0" err="1">
                <a:solidFill>
                  <a:sysClr val="windowText" lastClr="000000"/>
                </a:solidFill>
                <a:sym typeface="Wingdings" pitchFamily="2" charset="2"/>
              </a:rPr>
              <a:t>uv</a:t>
            </a:r>
            <a:r>
              <a:rPr lang="en-US" kern="0">
                <a:solidFill>
                  <a:sysClr val="windowText" lastClr="000000"/>
                </a:solidFill>
                <a:sym typeface="Wingdings" pitchFamily="2" charset="2"/>
              </a:rPr>
              <a:t> sync’</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a:t>
            </a:r>
            <a:r>
              <a:rPr lang="en-US" sz="1200">
                <a:latin typeface="Arial" panose="020B0604020202020204" pitchFamily="34" charset="0"/>
                <a:cs typeface="Arial" panose="020B0604020202020204" pitchFamily="34" charset="0"/>
              </a:rPr>
              <a:t>of different modes, </a:t>
            </a:r>
            <a:r>
              <a:rPr lang="en-US" sz="1200" dirty="0">
                <a:latin typeface="Arial" panose="020B0604020202020204" pitchFamily="34" charset="0"/>
                <a:cs typeface="Arial" panose="020B0604020202020204" pitchFamily="34" charset="0"/>
              </a:rPr>
              <a:t>comparison between </a:t>
            </a:r>
            <a:r>
              <a:rPr lang="en-US" sz="1200">
                <a:latin typeface="Arial" panose="020B0604020202020204" pitchFamily="34" charset="0"/>
                <a:cs typeface="Arial" panose="020B0604020202020204" pitchFamily="34" charset="0"/>
              </a:rPr>
              <a:t>different polarizations…)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0747D-09F4-6BE2-437A-A61A27881740}"/>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4F1B649A-EE83-5DA1-DB6D-4E9DF92FDF3E}"/>
              </a:ext>
            </a:extLst>
          </p:cNvPr>
          <p:cNvSpPr txBox="1"/>
          <p:nvPr/>
        </p:nvSpPr>
        <p:spPr>
          <a:xfrm>
            <a:off x="629920" y="1316945"/>
            <a:ext cx="7609840" cy="3600986"/>
          </a:xfrm>
          <a:prstGeom prst="rect">
            <a:avLst/>
          </a:prstGeom>
          <a:noFill/>
          <a:ln w="28575">
            <a:solidFill>
              <a:srgbClr val="E0700D"/>
            </a:solidFill>
          </a:ln>
        </p:spPr>
        <p:txBody>
          <a:bodyPr wrap="square" rtlCol="0">
            <a:spAutoFit/>
          </a:bodyPr>
          <a:lstStyle/>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BC470D97-3AA0-CDA3-884D-720CC16FB25D}"/>
              </a:ext>
            </a:extLst>
          </p:cNvPr>
          <p:cNvSpPr txBox="1"/>
          <p:nvPr/>
        </p:nvSpPr>
        <p:spPr>
          <a:xfrm>
            <a:off x="8753051" y="1655562"/>
            <a:ext cx="2647631" cy="3046988"/>
          </a:xfrm>
          <a:prstGeom prst="rect">
            <a:avLst/>
          </a:prstGeom>
          <a:noFill/>
          <a:ln w="28575">
            <a:solidFill>
              <a:srgbClr val="E0700D"/>
            </a:solidFill>
          </a:ln>
        </p:spPr>
        <p:txBody>
          <a:bodyPr wrap="square" rtlCol="0">
            <a:spAutoFit/>
          </a:bodyPr>
          <a:lstStyle/>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F564E44A-48DD-C263-58AC-1BA81C1536CC}"/>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2285E541-305F-1275-9062-E4C6566297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D12C9C0-1001-A408-C3A6-F0A37A84F529}"/>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B913A18A-3B4E-B06D-F7DD-830A7B1220CF}"/>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pic>
        <p:nvPicPr>
          <p:cNvPr id="2" name="Imagen 1" descr="Gráfico&#10;&#10;El contenido generado por IA puede ser incorrecto.">
            <a:extLst>
              <a:ext uri="{FF2B5EF4-FFF2-40B4-BE49-F238E27FC236}">
                <a16:creationId xmlns:a16="http://schemas.microsoft.com/office/drawing/2014/main" id="{1FD789FB-9CB7-8877-C3E4-DB9C9B31CF05}"/>
              </a:ext>
            </a:extLst>
          </p:cNvPr>
          <p:cNvPicPr>
            <a:picLocks noChangeAspect="1"/>
          </p:cNvPicPr>
          <p:nvPr/>
        </p:nvPicPr>
        <p:blipFill>
          <a:blip r:embed="rId4"/>
          <a:stretch>
            <a:fillRect/>
          </a:stretch>
        </p:blipFill>
        <p:spPr>
          <a:xfrm>
            <a:off x="1006010" y="1511333"/>
            <a:ext cx="4571521" cy="3191217"/>
          </a:xfrm>
          <a:prstGeom prst="rect">
            <a:avLst/>
          </a:prstGeom>
        </p:spPr>
      </p:pic>
      <p:sp>
        <p:nvSpPr>
          <p:cNvPr id="4" name="CuadroTexto 3">
            <a:extLst>
              <a:ext uri="{FF2B5EF4-FFF2-40B4-BE49-F238E27FC236}">
                <a16:creationId xmlns:a16="http://schemas.microsoft.com/office/drawing/2014/main" id="{CA2FA457-4BAC-FE14-CBB9-5CBEDE7BFD16}"/>
              </a:ext>
            </a:extLst>
          </p:cNvPr>
          <p:cNvSpPr txBox="1"/>
          <p:nvPr/>
        </p:nvSpPr>
        <p:spPr>
          <a:xfrm>
            <a:off x="6095902" y="1717055"/>
            <a:ext cx="2307788"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err="1">
                <a:ea typeface="+mn-lt"/>
                <a:cs typeface="+mn-lt"/>
              </a:rPr>
              <a:t>Directional</a:t>
            </a:r>
            <a:r>
              <a:rPr lang="es-ES" sz="1600" dirty="0">
                <a:ea typeface="+mn-lt"/>
                <a:cs typeface="+mn-lt"/>
              </a:rPr>
              <a:t> </a:t>
            </a:r>
            <a:r>
              <a:rPr lang="es-ES" sz="1600" dirty="0" err="1">
                <a:ea typeface="+mn-lt"/>
                <a:cs typeface="+mn-lt"/>
              </a:rPr>
              <a:t>coupler</a:t>
            </a:r>
            <a:r>
              <a:rPr lang="es-ES" sz="1600" dirty="0">
                <a:ea typeface="+mn-lt"/>
                <a:cs typeface="+mn-lt"/>
              </a:rPr>
              <a:t> formado por </a:t>
            </a:r>
            <a:r>
              <a:rPr lang="es-ES" sz="1600" b="1" dirty="0">
                <a:ea typeface="+mn-lt"/>
                <a:cs typeface="+mn-lt"/>
              </a:rPr>
              <a:t>dos </a:t>
            </a:r>
            <a:r>
              <a:rPr lang="es-ES" sz="1600" b="1" dirty="0" err="1">
                <a:ea typeface="+mn-lt"/>
                <a:cs typeface="+mn-lt"/>
              </a:rPr>
              <a:t>waveguides</a:t>
            </a:r>
            <a:r>
              <a:rPr lang="es-ES" sz="1600" dirty="0">
                <a:ea typeface="+mn-lt"/>
                <a:cs typeface="+mn-lt"/>
              </a:rPr>
              <a:t> acoplados. </a:t>
            </a:r>
            <a:endParaRPr lang="es-ES" sz="1600" dirty="0">
              <a:ea typeface="Calibri"/>
              <a:cs typeface="Calibri"/>
            </a:endParaRPr>
          </a:p>
          <a:p>
            <a:endParaRPr lang="es-ES" sz="1600" dirty="0">
              <a:ea typeface="+mn-lt"/>
              <a:cs typeface="+mn-lt"/>
            </a:endParaRPr>
          </a:p>
          <a:p>
            <a:r>
              <a:rPr lang="es-ES" sz="1600" b="1">
                <a:ea typeface="+mn-lt"/>
                <a:cs typeface="+mn-lt"/>
              </a:rPr>
              <a:t>Parámetros: </a:t>
            </a:r>
            <a:endParaRPr lang="es-ES" sz="1600" b="1" dirty="0">
              <a:ea typeface="Calibri"/>
              <a:cs typeface="Calibri"/>
            </a:endParaRPr>
          </a:p>
          <a:p>
            <a:pPr marL="285750" indent="-285750">
              <a:buFont typeface="Arial"/>
              <a:buChar char="•"/>
            </a:pPr>
            <a:r>
              <a:rPr lang="es-ES" sz="1600" dirty="0">
                <a:ea typeface="+mn-lt"/>
                <a:cs typeface="+mn-lt"/>
              </a:rPr>
              <a:t>w=1.2 </a:t>
            </a:r>
            <a:r>
              <a:rPr lang="es-ES" sz="1600" dirty="0" err="1">
                <a:ea typeface="+mn-lt"/>
                <a:cs typeface="+mn-lt"/>
              </a:rPr>
              <a:t>μm</a:t>
            </a:r>
            <a:endParaRPr lang="es-ES" sz="1600" dirty="0">
              <a:ea typeface="+mn-lt"/>
              <a:cs typeface="+mn-lt"/>
            </a:endParaRPr>
          </a:p>
          <a:p>
            <a:pPr marL="285750" indent="-285750">
              <a:buFont typeface="Arial"/>
              <a:buChar char="•"/>
            </a:pPr>
            <a:r>
              <a:rPr lang="es-ES" sz="1600">
                <a:ea typeface="+mn-lt"/>
                <a:cs typeface="+mn-lt"/>
              </a:rPr>
              <a:t> g=0.6μm </a:t>
            </a:r>
            <a:endParaRPr lang="es-ES" sz="1600" dirty="0">
              <a:ea typeface="Calibri"/>
              <a:cs typeface="Calibri"/>
            </a:endParaRPr>
          </a:p>
          <a:p>
            <a:pPr marL="285750" indent="-285750">
              <a:buFont typeface="Arial"/>
              <a:buChar char="•"/>
            </a:pPr>
            <a:r>
              <a:rPr lang="es-ES" sz="1600">
                <a:ea typeface="+mn-lt"/>
                <a:cs typeface="+mn-lt"/>
              </a:rPr>
              <a:t>h=300 nm</a:t>
            </a:r>
            <a:endParaRPr lang="es-ES" sz="1600">
              <a:ea typeface="Calibri"/>
              <a:cs typeface="Calibri"/>
            </a:endParaRPr>
          </a:p>
          <a:p>
            <a:r>
              <a:rPr lang="es-ES" sz="1600" b="1">
                <a:ea typeface="+mn-lt"/>
                <a:cs typeface="+mn-lt"/>
              </a:rPr>
              <a:t>Materiales: </a:t>
            </a:r>
            <a:endParaRPr lang="es-ES" sz="1600" b="1" dirty="0">
              <a:ea typeface="Calibri"/>
              <a:cs typeface="Calibri"/>
            </a:endParaRPr>
          </a:p>
          <a:p>
            <a:pPr marL="285750" indent="-285750">
              <a:buFont typeface="Arial"/>
              <a:buChar char="•"/>
            </a:pPr>
            <a:r>
              <a:rPr lang="es-ES" sz="1600" dirty="0">
                <a:ea typeface="+mn-lt"/>
                <a:cs typeface="+mn-lt"/>
              </a:rPr>
              <a:t>Core: </a:t>
            </a:r>
            <a:r>
              <a:rPr lang="es-ES" sz="1600" dirty="0" err="1">
                <a:ea typeface="+mn-lt"/>
                <a:cs typeface="+mn-lt"/>
              </a:rPr>
              <a:t>SiN</a:t>
            </a:r>
            <a:r>
              <a:rPr lang="es-ES" sz="1600" dirty="0">
                <a:ea typeface="+mn-lt"/>
                <a:cs typeface="+mn-lt"/>
              </a:rPr>
              <a:t> </a:t>
            </a:r>
            <a:endParaRPr lang="es-ES" sz="1600">
              <a:ea typeface="Calibri"/>
              <a:cs typeface="Calibri"/>
            </a:endParaRPr>
          </a:p>
          <a:p>
            <a:pPr marL="285750" indent="-285750">
              <a:buFont typeface="Arial"/>
              <a:buChar char="•"/>
            </a:pPr>
            <a:r>
              <a:rPr lang="es-ES" sz="1600" dirty="0" err="1">
                <a:ea typeface="+mn-lt"/>
                <a:cs typeface="+mn-lt"/>
              </a:rPr>
              <a:t>Cladding</a:t>
            </a:r>
            <a:r>
              <a:rPr lang="es-ES" sz="1600" dirty="0">
                <a:ea typeface="+mn-lt"/>
                <a:cs typeface="+mn-lt"/>
              </a:rPr>
              <a:t>: </a:t>
            </a:r>
            <a:r>
              <a:rPr lang="es-ES" sz="1600" dirty="0" err="1">
                <a:ea typeface="+mn-lt"/>
                <a:cs typeface="+mn-lt"/>
              </a:rPr>
              <a:t>SiO</a:t>
            </a:r>
            <a:r>
              <a:rPr lang="es-ES" sz="1600" dirty="0">
                <a:ea typeface="+mn-lt"/>
                <a:cs typeface="+mn-lt"/>
              </a:rPr>
              <a:t>₂</a:t>
            </a:r>
            <a:endParaRPr lang="es-ES" sz="1600" dirty="0">
              <a:ea typeface="Calibri"/>
              <a:cs typeface="Calibri"/>
            </a:endParaRPr>
          </a:p>
        </p:txBody>
      </p:sp>
      <p:sp>
        <p:nvSpPr>
          <p:cNvPr id="6" name="CuadroTexto 5">
            <a:extLst>
              <a:ext uri="{FF2B5EF4-FFF2-40B4-BE49-F238E27FC236}">
                <a16:creationId xmlns:a16="http://schemas.microsoft.com/office/drawing/2014/main" id="{72B5191F-8EF7-EBCD-AACC-6FBB8A43CF11}"/>
              </a:ext>
            </a:extLst>
          </p:cNvPr>
          <p:cNvSpPr txBox="1"/>
          <p:nvPr/>
        </p:nvSpPr>
        <p:spPr>
          <a:xfrm>
            <a:off x="8753051" y="1696750"/>
            <a:ext cx="2825112"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b="1" dirty="0">
                <a:ea typeface="Calibri"/>
                <a:cs typeface="Calibri"/>
              </a:rPr>
              <a:t>TE </a:t>
            </a:r>
            <a:r>
              <a:rPr lang="es-ES" sz="1600" b="1" dirty="0" err="1">
                <a:ea typeface="Calibri"/>
                <a:cs typeface="Calibri"/>
              </a:rPr>
              <a:t>modes</a:t>
            </a:r>
            <a:r>
              <a:rPr lang="es-ES" sz="1600" b="1" dirty="0">
                <a:ea typeface="Calibri"/>
                <a:cs typeface="Calibri"/>
              </a:rPr>
              <a:t>: </a:t>
            </a:r>
          </a:p>
          <a:p>
            <a:pPr marL="285750" indent="-285750">
              <a:buFont typeface="Arial,Sans-Serif"/>
              <a:buChar char="•"/>
            </a:pPr>
            <a:r>
              <a:rPr lang="es-ES" sz="1600" dirty="0">
                <a:ea typeface="Calibri"/>
                <a:cs typeface="Calibri"/>
              </a:rPr>
              <a:t>neff,0≈1.6094</a:t>
            </a:r>
          </a:p>
          <a:p>
            <a:pPr marL="285750" indent="-285750">
              <a:buFont typeface="Arial,Sans-Serif"/>
              <a:buChar char="•"/>
            </a:pPr>
            <a:r>
              <a:rPr lang="es-ES" sz="1600" dirty="0">
                <a:ea typeface="Calibri"/>
                <a:cs typeface="Calibri"/>
              </a:rPr>
              <a:t>neff,1≈1.6012</a:t>
            </a:r>
          </a:p>
          <a:p>
            <a:r>
              <a:rPr lang="es-ES" sz="1600" b="1" dirty="0">
                <a:ea typeface="Calibri"/>
                <a:cs typeface="Calibri"/>
              </a:rPr>
              <a:t>TM </a:t>
            </a:r>
            <a:r>
              <a:rPr lang="es-ES" sz="1600" b="1" dirty="0" err="1">
                <a:ea typeface="Calibri"/>
                <a:cs typeface="Calibri"/>
              </a:rPr>
              <a:t>modes</a:t>
            </a:r>
            <a:r>
              <a:rPr lang="es-ES" sz="1600" b="1" dirty="0">
                <a:ea typeface="Calibri"/>
                <a:cs typeface="Calibri"/>
              </a:rPr>
              <a:t>: </a:t>
            </a:r>
          </a:p>
          <a:p>
            <a:pPr marL="285750" indent="-285750">
              <a:buFont typeface="Arial,Sans-Serif"/>
              <a:buChar char="•"/>
            </a:pPr>
            <a:r>
              <a:rPr lang="es-ES" sz="1600" dirty="0">
                <a:ea typeface="Calibri"/>
                <a:cs typeface="Calibri"/>
              </a:rPr>
              <a:t>neff,2≈1.5354</a:t>
            </a:r>
          </a:p>
          <a:p>
            <a:pPr marL="285750" indent="-285750" algn="l">
              <a:buFont typeface="Arial,Sans-Serif"/>
              <a:buChar char="•"/>
            </a:pPr>
            <a:r>
              <a:rPr lang="es-ES" sz="1600" dirty="0">
                <a:ea typeface="Calibri"/>
                <a:cs typeface="Calibri"/>
              </a:rPr>
              <a:t>neff,3≈1.5206</a:t>
            </a:r>
          </a:p>
          <a:p>
            <a:endParaRPr lang="es-ES" sz="1600" dirty="0">
              <a:ea typeface="Calibri"/>
              <a:cs typeface="Calibri"/>
            </a:endParaRPr>
          </a:p>
          <a:p>
            <a:r>
              <a:rPr lang="es-ES" sz="1600" dirty="0">
                <a:ea typeface="+mn-lt"/>
                <a:cs typeface="+mn-lt"/>
              </a:rPr>
              <a:t>Aparecen modos </a:t>
            </a:r>
            <a:r>
              <a:rPr lang="es-ES" sz="1600" b="1" dirty="0">
                <a:ea typeface="+mn-lt"/>
                <a:cs typeface="+mn-lt"/>
              </a:rPr>
              <a:t>pares (</a:t>
            </a:r>
            <a:r>
              <a:rPr lang="es-ES" sz="1600" b="1" dirty="0" err="1">
                <a:ea typeface="+mn-lt"/>
                <a:cs typeface="+mn-lt"/>
              </a:rPr>
              <a:t>even</a:t>
            </a:r>
            <a:r>
              <a:rPr lang="es-ES" sz="1600" b="1" dirty="0">
                <a:ea typeface="+mn-lt"/>
                <a:cs typeface="+mn-lt"/>
              </a:rPr>
              <a:t>)</a:t>
            </a:r>
            <a:r>
              <a:rPr lang="es-ES" sz="1600" dirty="0">
                <a:ea typeface="+mn-lt"/>
                <a:cs typeface="+mn-lt"/>
              </a:rPr>
              <a:t> e </a:t>
            </a:r>
            <a:r>
              <a:rPr lang="es-ES" sz="1600" b="1" dirty="0">
                <a:ea typeface="+mn-lt"/>
                <a:cs typeface="+mn-lt"/>
              </a:rPr>
              <a:t>impares (</a:t>
            </a:r>
            <a:r>
              <a:rPr lang="es-ES" sz="1600" b="1" dirty="0" err="1">
                <a:ea typeface="+mn-lt"/>
                <a:cs typeface="+mn-lt"/>
              </a:rPr>
              <a:t>odd</a:t>
            </a:r>
            <a:r>
              <a:rPr lang="es-ES" sz="1600" b="1" dirty="0">
                <a:ea typeface="+mn-lt"/>
                <a:cs typeface="+mn-lt"/>
              </a:rPr>
              <a:t>)</a:t>
            </a:r>
            <a:r>
              <a:rPr lang="es-ES" sz="1600" dirty="0">
                <a:ea typeface="+mn-lt"/>
                <a:cs typeface="+mn-lt"/>
              </a:rPr>
              <a:t> debido al acoplamiento entre guías.</a:t>
            </a:r>
          </a:p>
        </p:txBody>
      </p:sp>
    </p:spTree>
    <p:extLst>
      <p:ext uri="{BB962C8B-B14F-4D97-AF65-F5344CB8AC3E}">
        <p14:creationId xmlns:p14="http://schemas.microsoft.com/office/powerpoint/2010/main" val="1648878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3227C-83C6-F468-4820-CDDED5B1652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9370BAB-08E1-E003-4160-C9E4C1F2CC9F}"/>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239DF52D-53D6-FC68-8E16-D4D34F6ABC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1DD8FC0-7AA9-E368-D7D2-D3A677CA1BC3}"/>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8014AEB0-3FC7-AED3-7E62-61C02D14CE3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CuadroTexto 6">
            <a:extLst>
              <a:ext uri="{FF2B5EF4-FFF2-40B4-BE49-F238E27FC236}">
                <a16:creationId xmlns:a16="http://schemas.microsoft.com/office/drawing/2014/main" id="{54366D71-60D4-3387-A7C2-13C04215DBB9}"/>
              </a:ext>
            </a:extLst>
          </p:cNvPr>
          <p:cNvSpPr txBox="1"/>
          <p:nvPr/>
        </p:nvSpPr>
        <p:spPr>
          <a:xfrm>
            <a:off x="7315200" y="1600200"/>
            <a:ext cx="3875395"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a:ea typeface="+mn-lt"/>
                <a:cs typeface="+mn-lt"/>
              </a:rPr>
              <a:t>El acoplamiento se produce por interacción de los campos evanescentes entre ambas guías.</a:t>
            </a:r>
            <a:endParaRPr lang="es-ES" dirty="0"/>
          </a:p>
          <a:p>
            <a:endParaRPr lang="es-ES" sz="1600" dirty="0">
              <a:ea typeface="+mn-lt"/>
              <a:cs typeface="+mn-lt"/>
            </a:endParaRPr>
          </a:p>
          <a:p>
            <a:r>
              <a:rPr lang="es-ES" sz="1600" dirty="0">
                <a:ea typeface="+mn-lt"/>
                <a:cs typeface="+mn-lt"/>
              </a:rPr>
              <a:t>Los modos están claramente separados en polarización TE y TM:</a:t>
            </a:r>
          </a:p>
          <a:p>
            <a:pPr marL="285750" indent="-285750">
              <a:buFont typeface="Arial"/>
              <a:buChar char="•"/>
            </a:pPr>
            <a:endParaRPr lang="es-ES" sz="1600" dirty="0">
              <a:ea typeface="+mn-lt"/>
              <a:cs typeface="+mn-lt"/>
            </a:endParaRPr>
          </a:p>
          <a:p>
            <a:pPr marL="285750" indent="-285750">
              <a:buFont typeface="Arial"/>
              <a:buChar char="•"/>
            </a:pPr>
            <a:r>
              <a:rPr lang="es-ES" sz="1600" dirty="0">
                <a:ea typeface="+mn-lt"/>
                <a:cs typeface="+mn-lt"/>
              </a:rPr>
              <a:t>Modos 0 y 1 → </a:t>
            </a:r>
            <a:r>
              <a:rPr lang="es-ES" sz="1600" b="1" dirty="0">
                <a:ea typeface="+mn-lt"/>
                <a:cs typeface="+mn-lt"/>
              </a:rPr>
              <a:t>TE (≈1)</a:t>
            </a:r>
            <a:r>
              <a:rPr lang="es-ES" sz="1600" dirty="0">
                <a:ea typeface="+mn-lt"/>
                <a:cs typeface="+mn-lt"/>
              </a:rPr>
              <a:t> </a:t>
            </a:r>
            <a:endParaRPr lang="es-ES" sz="1600" dirty="0">
              <a:ea typeface="Calibri"/>
              <a:cs typeface="Calibri"/>
            </a:endParaRPr>
          </a:p>
          <a:p>
            <a:pPr marL="285750" indent="-285750">
              <a:buFont typeface="Arial"/>
              <a:buChar char="•"/>
            </a:pPr>
            <a:r>
              <a:rPr lang="es-ES" sz="1600" dirty="0">
                <a:ea typeface="+mn-lt"/>
                <a:cs typeface="+mn-lt"/>
              </a:rPr>
              <a:t>Modos 2 y 3 → </a:t>
            </a:r>
            <a:r>
              <a:rPr lang="es-ES" sz="1600" b="1" dirty="0">
                <a:ea typeface="+mn-lt"/>
                <a:cs typeface="+mn-lt"/>
              </a:rPr>
              <a:t>TM (≈1)</a:t>
            </a:r>
            <a:endParaRPr lang="es-ES" dirty="0">
              <a:ea typeface="Calibri"/>
              <a:cs typeface="Calibri"/>
            </a:endParaRPr>
          </a:p>
          <a:p>
            <a:pPr algn="l"/>
            <a:endParaRPr lang="es-ES" dirty="0">
              <a:ea typeface="Calibri"/>
              <a:cs typeface="Calibri"/>
            </a:endParaRPr>
          </a:p>
        </p:txBody>
      </p:sp>
      <p:pic>
        <p:nvPicPr>
          <p:cNvPr id="4" name="Imagen 3">
            <a:extLst>
              <a:ext uri="{FF2B5EF4-FFF2-40B4-BE49-F238E27FC236}">
                <a16:creationId xmlns:a16="http://schemas.microsoft.com/office/drawing/2014/main" id="{AA7E3577-513F-EE70-5606-52DDC6732E94}"/>
              </a:ext>
            </a:extLst>
          </p:cNvPr>
          <p:cNvPicPr>
            <a:picLocks noChangeAspect="1"/>
          </p:cNvPicPr>
          <p:nvPr/>
        </p:nvPicPr>
        <p:blipFill>
          <a:blip r:embed="rId4"/>
          <a:stretch>
            <a:fillRect/>
          </a:stretch>
        </p:blipFill>
        <p:spPr>
          <a:xfrm>
            <a:off x="457200" y="1485900"/>
            <a:ext cx="6224601" cy="3886200"/>
          </a:xfrm>
          <a:prstGeom prst="rect">
            <a:avLst/>
          </a:prstGeom>
        </p:spPr>
      </p:pic>
      <p:sp>
        <p:nvSpPr>
          <p:cNvPr id="5" name="CuadroTexto 4">
            <a:extLst>
              <a:ext uri="{FF2B5EF4-FFF2-40B4-BE49-F238E27FC236}">
                <a16:creationId xmlns:a16="http://schemas.microsoft.com/office/drawing/2014/main" id="{1536576A-C975-1527-A2D6-A2453054DD7A}"/>
              </a:ext>
            </a:extLst>
          </p:cNvPr>
          <p:cNvSpPr txBox="1"/>
          <p:nvPr/>
        </p:nvSpPr>
        <p:spPr>
          <a:xfrm>
            <a:off x="304800" y="1196228"/>
            <a:ext cx="11430000" cy="4524315"/>
          </a:xfrm>
          <a:prstGeom prst="rect">
            <a:avLst/>
          </a:prstGeom>
          <a:noFill/>
          <a:ln w="28575">
            <a:solidFill>
              <a:srgbClr val="E0700D"/>
            </a:solidFill>
          </a:ln>
        </p:spPr>
        <p:txBody>
          <a:bodyPr wrap="square" rtlCol="0">
            <a:spAutoFit/>
          </a:bodyPr>
          <a:lstStyle/>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3057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4446A-360B-41B4-4441-8E91B43D34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C613C70-1302-1146-3391-A43E5FB4654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D61D655D-E6A1-B40B-4D75-23808D2E5A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AD6F7D2-8CA5-0947-97C7-C659008ED06B}"/>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818DAE4C-042C-D643-6E1E-F70DEE6467EF}"/>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pic>
        <p:nvPicPr>
          <p:cNvPr id="2" name="Imagen 1" descr="Gráfico&#10;&#10;El contenido generado por IA puede ser incorrecto.">
            <a:extLst>
              <a:ext uri="{FF2B5EF4-FFF2-40B4-BE49-F238E27FC236}">
                <a16:creationId xmlns:a16="http://schemas.microsoft.com/office/drawing/2014/main" id="{84B9E66E-DF66-D1DE-7096-7429645CCE40}"/>
              </a:ext>
            </a:extLst>
          </p:cNvPr>
          <p:cNvPicPr>
            <a:picLocks noChangeAspect="1"/>
          </p:cNvPicPr>
          <p:nvPr/>
        </p:nvPicPr>
        <p:blipFill>
          <a:blip r:embed="rId4"/>
          <a:stretch>
            <a:fillRect/>
          </a:stretch>
        </p:blipFill>
        <p:spPr>
          <a:xfrm>
            <a:off x="927955" y="4161326"/>
            <a:ext cx="2833323" cy="1888149"/>
          </a:xfrm>
          <a:prstGeom prst="rect">
            <a:avLst/>
          </a:prstGeom>
        </p:spPr>
      </p:pic>
      <p:pic>
        <p:nvPicPr>
          <p:cNvPr id="4" name="Imagen 3" descr="Gráfico&#10;&#10;El contenido generado por IA puede ser incorrecto.">
            <a:extLst>
              <a:ext uri="{FF2B5EF4-FFF2-40B4-BE49-F238E27FC236}">
                <a16:creationId xmlns:a16="http://schemas.microsoft.com/office/drawing/2014/main" id="{B8ACFE3B-ED01-FBBC-AD2B-C80102CD5133}"/>
              </a:ext>
            </a:extLst>
          </p:cNvPr>
          <p:cNvPicPr>
            <a:picLocks noChangeAspect="1"/>
          </p:cNvPicPr>
          <p:nvPr/>
        </p:nvPicPr>
        <p:blipFill>
          <a:blip r:embed="rId5"/>
          <a:stretch>
            <a:fillRect/>
          </a:stretch>
        </p:blipFill>
        <p:spPr>
          <a:xfrm>
            <a:off x="4137147" y="4158393"/>
            <a:ext cx="2833323" cy="1889615"/>
          </a:xfrm>
          <a:prstGeom prst="rect">
            <a:avLst/>
          </a:prstGeom>
        </p:spPr>
      </p:pic>
      <p:sp>
        <p:nvSpPr>
          <p:cNvPr id="5" name="CuadroTexto 4">
            <a:extLst>
              <a:ext uri="{FF2B5EF4-FFF2-40B4-BE49-F238E27FC236}">
                <a16:creationId xmlns:a16="http://schemas.microsoft.com/office/drawing/2014/main" id="{20342568-3B9D-DE4D-8BE1-A6B931F9FC10}"/>
              </a:ext>
            </a:extLst>
          </p:cNvPr>
          <p:cNvSpPr txBox="1"/>
          <p:nvPr/>
        </p:nvSpPr>
        <p:spPr>
          <a:xfrm>
            <a:off x="7953458" y="1665625"/>
            <a:ext cx="3773309"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err="1">
                <a:ea typeface="+mn-lt"/>
                <a:cs typeface="+mn-lt"/>
              </a:rPr>
              <a:t>Mode</a:t>
            </a:r>
            <a:r>
              <a:rPr lang="es-ES" sz="1600" dirty="0">
                <a:ea typeface="+mn-lt"/>
                <a:cs typeface="+mn-lt"/>
              </a:rPr>
              <a:t> 2 (</a:t>
            </a:r>
            <a:r>
              <a:rPr lang="es-ES" sz="1600" dirty="0" err="1">
                <a:ea typeface="+mn-lt"/>
                <a:cs typeface="+mn-lt"/>
              </a:rPr>
              <a:t>Ey</a:t>
            </a:r>
            <a:r>
              <a:rPr lang="es-ES" sz="1600" dirty="0">
                <a:ea typeface="+mn-lt"/>
                <a:cs typeface="+mn-lt"/>
              </a:rPr>
              <a:t>) (Izquierda) y </a:t>
            </a:r>
            <a:r>
              <a:rPr lang="es-ES" sz="1600" dirty="0" err="1">
                <a:ea typeface="+mn-lt"/>
                <a:cs typeface="+mn-lt"/>
              </a:rPr>
              <a:t>Mode</a:t>
            </a:r>
            <a:r>
              <a:rPr lang="es-ES" sz="1600" dirty="0">
                <a:ea typeface="+mn-lt"/>
                <a:cs typeface="+mn-lt"/>
              </a:rPr>
              <a:t> 3 (</a:t>
            </a:r>
            <a:r>
              <a:rPr lang="es-ES" sz="1600" dirty="0" err="1">
                <a:ea typeface="+mn-lt"/>
                <a:cs typeface="+mn-lt"/>
              </a:rPr>
              <a:t>Ey</a:t>
            </a:r>
            <a:r>
              <a:rPr lang="es-ES" sz="1600" dirty="0">
                <a:ea typeface="+mn-lt"/>
                <a:cs typeface="+mn-lt"/>
              </a:rPr>
              <a:t>) (Derecha). Mismo comportamiento que TE pero en polarización TM</a:t>
            </a:r>
            <a:endParaRPr lang="es-ES" sz="1600" dirty="0">
              <a:ea typeface="Calibri"/>
              <a:cs typeface="Calibri"/>
            </a:endParaRPr>
          </a:p>
          <a:p>
            <a:pPr algn="l"/>
            <a:endParaRPr lang="es-ES" dirty="0">
              <a:ea typeface="Calibri"/>
              <a:cs typeface="Calibri"/>
            </a:endParaRPr>
          </a:p>
        </p:txBody>
      </p:sp>
      <p:sp>
        <p:nvSpPr>
          <p:cNvPr id="12" name="CuadroTexto 11">
            <a:extLst>
              <a:ext uri="{FF2B5EF4-FFF2-40B4-BE49-F238E27FC236}">
                <a16:creationId xmlns:a16="http://schemas.microsoft.com/office/drawing/2014/main" id="{851BC1DF-EFCD-D48E-17B8-5E8E9BA619C8}"/>
              </a:ext>
            </a:extLst>
          </p:cNvPr>
          <p:cNvSpPr txBox="1"/>
          <p:nvPr/>
        </p:nvSpPr>
        <p:spPr>
          <a:xfrm>
            <a:off x="8262936" y="4634593"/>
            <a:ext cx="343335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s-ES" dirty="0">
                <a:ea typeface="+mn-lt"/>
                <a:cs typeface="+mn-lt"/>
              </a:rPr>
              <a:t>Lπ,TE≈93.84 </a:t>
            </a:r>
            <a:r>
              <a:rPr lang="es-ES" dirty="0" err="1">
                <a:ea typeface="+mn-lt"/>
                <a:cs typeface="+mn-lt"/>
              </a:rPr>
              <a:t>μm</a:t>
            </a:r>
            <a:endParaRPr lang="es-ES" dirty="0" err="1"/>
          </a:p>
          <a:p>
            <a:pPr marL="285750" indent="-285750">
              <a:buFont typeface="Arial"/>
              <a:buChar char="•"/>
            </a:pPr>
            <a:r>
              <a:rPr lang="es-ES" dirty="0">
                <a:ea typeface="+mn-lt"/>
                <a:cs typeface="+mn-lt"/>
              </a:rPr>
              <a:t>Lπ,TM≈52.26 </a:t>
            </a:r>
            <a:r>
              <a:rPr lang="es-ES" dirty="0" err="1">
                <a:ea typeface="+mn-lt"/>
                <a:cs typeface="+mn-lt"/>
              </a:rPr>
              <a:t>μm</a:t>
            </a:r>
            <a:endParaRPr lang="es-ES" dirty="0" err="1"/>
          </a:p>
          <a:p>
            <a:pPr marL="285750" indent="-285750" algn="l">
              <a:buFont typeface="Arial"/>
              <a:buChar char="•"/>
            </a:pPr>
            <a:endParaRPr lang="es-ES" dirty="0">
              <a:ea typeface="Calibri"/>
              <a:cs typeface="Calibri"/>
            </a:endParaRPr>
          </a:p>
          <a:p>
            <a:r>
              <a:rPr lang="es-ES" dirty="0">
                <a:ea typeface="+mn-lt"/>
                <a:cs typeface="+mn-lt"/>
              </a:rPr>
              <a:t>Cuanto mayor Δneff → menor Lπ</a:t>
            </a:r>
            <a:endParaRPr lang="es-ES" dirty="0"/>
          </a:p>
          <a:p>
            <a:endParaRPr lang="es-ES" dirty="0">
              <a:ea typeface="Calibri"/>
              <a:cs typeface="Calibri"/>
            </a:endParaRPr>
          </a:p>
        </p:txBody>
      </p:sp>
      <p:pic>
        <p:nvPicPr>
          <p:cNvPr id="15" name="Imagen 14">
            <a:extLst>
              <a:ext uri="{FF2B5EF4-FFF2-40B4-BE49-F238E27FC236}">
                <a16:creationId xmlns:a16="http://schemas.microsoft.com/office/drawing/2014/main" id="{94A19149-F8CE-A080-7262-8781B862918A}"/>
              </a:ext>
            </a:extLst>
          </p:cNvPr>
          <p:cNvPicPr>
            <a:picLocks noChangeAspect="1"/>
          </p:cNvPicPr>
          <p:nvPr/>
        </p:nvPicPr>
        <p:blipFill>
          <a:blip r:embed="rId6"/>
          <a:srcRect t="1538" b="1330"/>
          <a:stretch>
            <a:fillRect/>
          </a:stretch>
        </p:blipFill>
        <p:spPr>
          <a:xfrm>
            <a:off x="755771" y="1004677"/>
            <a:ext cx="3177687" cy="2139306"/>
          </a:xfrm>
          <a:prstGeom prst="rect">
            <a:avLst/>
          </a:prstGeom>
        </p:spPr>
      </p:pic>
      <p:pic>
        <p:nvPicPr>
          <p:cNvPr id="18" name="Imagen 17" descr="Gráfico, Gráfico de burbujas&#10;&#10;El contenido generado por IA puede ser incorrecto.">
            <a:extLst>
              <a:ext uri="{FF2B5EF4-FFF2-40B4-BE49-F238E27FC236}">
                <a16:creationId xmlns:a16="http://schemas.microsoft.com/office/drawing/2014/main" id="{7E551E54-9FA2-8221-BE8B-D7593E1FCE64}"/>
              </a:ext>
            </a:extLst>
          </p:cNvPr>
          <p:cNvPicPr>
            <a:picLocks noChangeAspect="1"/>
          </p:cNvPicPr>
          <p:nvPr/>
        </p:nvPicPr>
        <p:blipFill>
          <a:blip r:embed="rId7"/>
          <a:srcRect b="1789"/>
          <a:stretch>
            <a:fillRect/>
          </a:stretch>
        </p:blipFill>
        <p:spPr>
          <a:xfrm>
            <a:off x="3935655" y="973747"/>
            <a:ext cx="3232639" cy="2139307"/>
          </a:xfrm>
          <a:prstGeom prst="rect">
            <a:avLst/>
          </a:prstGeom>
        </p:spPr>
      </p:pic>
      <p:sp>
        <p:nvSpPr>
          <p:cNvPr id="20" name="CuadroTexto 19">
            <a:extLst>
              <a:ext uri="{FF2B5EF4-FFF2-40B4-BE49-F238E27FC236}">
                <a16:creationId xmlns:a16="http://schemas.microsoft.com/office/drawing/2014/main" id="{759DAA07-9399-1AA9-9ABF-A98F588004A3}"/>
              </a:ext>
            </a:extLst>
          </p:cNvPr>
          <p:cNvSpPr txBox="1"/>
          <p:nvPr/>
        </p:nvSpPr>
        <p:spPr>
          <a:xfrm>
            <a:off x="666226" y="3299980"/>
            <a:ext cx="6506788"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err="1">
                <a:ea typeface="+mn-lt"/>
                <a:cs typeface="+mn-lt"/>
              </a:rPr>
              <a:t>Mode</a:t>
            </a:r>
            <a:r>
              <a:rPr lang="es-ES" sz="1600" dirty="0">
                <a:ea typeface="+mn-lt"/>
                <a:cs typeface="+mn-lt"/>
              </a:rPr>
              <a:t> 0 (Ex) → </a:t>
            </a:r>
            <a:r>
              <a:rPr lang="es-ES" sz="1600" b="1" dirty="0">
                <a:ea typeface="+mn-lt"/>
                <a:cs typeface="+mn-lt"/>
              </a:rPr>
              <a:t>modo par (</a:t>
            </a:r>
            <a:r>
              <a:rPr lang="es-ES" sz="1600" b="1" dirty="0" err="1">
                <a:ea typeface="+mn-lt"/>
                <a:cs typeface="+mn-lt"/>
              </a:rPr>
              <a:t>even</a:t>
            </a:r>
            <a:r>
              <a:rPr lang="es-ES" sz="1600" b="1" dirty="0">
                <a:ea typeface="+mn-lt"/>
                <a:cs typeface="+mn-lt"/>
              </a:rPr>
              <a:t>)</a:t>
            </a:r>
            <a:r>
              <a:rPr lang="es-ES" sz="1600" dirty="0">
                <a:ea typeface="+mn-lt"/>
                <a:cs typeface="+mn-lt"/>
              </a:rPr>
              <a:t> → campos en fase (Izquierda)</a:t>
            </a:r>
            <a:endParaRPr lang="es-ES" sz="1600" dirty="0">
              <a:ea typeface="Calibri"/>
              <a:cs typeface="Calibri"/>
            </a:endParaRPr>
          </a:p>
          <a:p>
            <a:r>
              <a:rPr lang="es-ES" sz="1600" dirty="0" err="1">
                <a:ea typeface="+mn-lt"/>
                <a:cs typeface="+mn-lt"/>
              </a:rPr>
              <a:t>Mode</a:t>
            </a:r>
            <a:r>
              <a:rPr lang="es-ES" sz="1600" dirty="0">
                <a:ea typeface="+mn-lt"/>
                <a:cs typeface="+mn-lt"/>
              </a:rPr>
              <a:t> 1 (Ex) → </a:t>
            </a:r>
            <a:r>
              <a:rPr lang="es-ES" sz="1600" b="1" dirty="0">
                <a:ea typeface="+mn-lt"/>
                <a:cs typeface="+mn-lt"/>
              </a:rPr>
              <a:t>modo impar (</a:t>
            </a:r>
            <a:r>
              <a:rPr lang="es-ES" sz="1600" b="1" dirty="0" err="1">
                <a:ea typeface="+mn-lt"/>
                <a:cs typeface="+mn-lt"/>
              </a:rPr>
              <a:t>odd</a:t>
            </a:r>
            <a:r>
              <a:rPr lang="es-ES" sz="1600" b="1" dirty="0">
                <a:ea typeface="+mn-lt"/>
                <a:cs typeface="+mn-lt"/>
              </a:rPr>
              <a:t>)</a:t>
            </a:r>
            <a:r>
              <a:rPr lang="es-ES" sz="1600" dirty="0">
                <a:ea typeface="+mn-lt"/>
                <a:cs typeface="+mn-lt"/>
              </a:rPr>
              <a:t> → campos en oposición de fase (Derecha)</a:t>
            </a:r>
            <a:endParaRPr lang="es-ES" sz="1600" dirty="0">
              <a:ea typeface="Calibri"/>
              <a:cs typeface="Calibri"/>
            </a:endParaRPr>
          </a:p>
          <a:p>
            <a:pPr algn="l"/>
            <a:endParaRPr lang="es-ES" dirty="0">
              <a:ea typeface="Calibri"/>
              <a:cs typeface="Calibri"/>
            </a:endParaRPr>
          </a:p>
        </p:txBody>
      </p:sp>
      <p:cxnSp>
        <p:nvCxnSpPr>
          <p:cNvPr id="21" name="Conector recto de flecha 20">
            <a:extLst>
              <a:ext uri="{FF2B5EF4-FFF2-40B4-BE49-F238E27FC236}">
                <a16:creationId xmlns:a16="http://schemas.microsoft.com/office/drawing/2014/main" id="{AE68B340-F36C-5C07-BB86-8CE48D45B896}"/>
              </a:ext>
            </a:extLst>
          </p:cNvPr>
          <p:cNvCxnSpPr>
            <a:cxnSpLocks/>
          </p:cNvCxnSpPr>
          <p:nvPr/>
        </p:nvCxnSpPr>
        <p:spPr>
          <a:xfrm flipV="1">
            <a:off x="7276966" y="2383292"/>
            <a:ext cx="590693" cy="21125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E8BD12AD-D4DD-8701-BDF4-911895C4527D}"/>
              </a:ext>
            </a:extLst>
          </p:cNvPr>
          <p:cNvSpPr txBox="1"/>
          <p:nvPr/>
        </p:nvSpPr>
        <p:spPr>
          <a:xfrm>
            <a:off x="568069" y="881001"/>
            <a:ext cx="6662076" cy="2308324"/>
          </a:xfrm>
          <a:prstGeom prst="rect">
            <a:avLst/>
          </a:prstGeom>
          <a:noFill/>
          <a:ln w="28575">
            <a:solidFill>
              <a:srgbClr val="E0700D"/>
            </a:solidFill>
          </a:ln>
        </p:spPr>
        <p:txBody>
          <a:bodyPr wrap="square" rtlCol="0">
            <a:spAutoFit/>
          </a:bodyPr>
          <a:lstStyle/>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CuadroTexto 6">
            <a:extLst>
              <a:ext uri="{FF2B5EF4-FFF2-40B4-BE49-F238E27FC236}">
                <a16:creationId xmlns:a16="http://schemas.microsoft.com/office/drawing/2014/main" id="{C5D6CACF-70AF-2CB4-D928-D7127AB7B932}"/>
              </a:ext>
            </a:extLst>
          </p:cNvPr>
          <p:cNvSpPr txBox="1"/>
          <p:nvPr/>
        </p:nvSpPr>
        <p:spPr>
          <a:xfrm>
            <a:off x="547244" y="3914661"/>
            <a:ext cx="6662076" cy="2308324"/>
          </a:xfrm>
          <a:prstGeom prst="rect">
            <a:avLst/>
          </a:prstGeom>
          <a:noFill/>
          <a:ln w="28575">
            <a:solidFill>
              <a:srgbClr val="E0700D"/>
            </a:solidFill>
          </a:ln>
        </p:spPr>
        <p:txBody>
          <a:bodyPr wrap="square" rtlCol="0">
            <a:spAutoFit/>
          </a:bodyPr>
          <a:lstStyle/>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9" name="Imagen 8">
            <a:extLst>
              <a:ext uri="{FF2B5EF4-FFF2-40B4-BE49-F238E27FC236}">
                <a16:creationId xmlns:a16="http://schemas.microsoft.com/office/drawing/2014/main" id="{B9EC28C6-1D4A-05F4-F05A-75233608DCB1}"/>
              </a:ext>
            </a:extLst>
          </p:cNvPr>
          <p:cNvPicPr>
            <a:picLocks noChangeAspect="1"/>
          </p:cNvPicPr>
          <p:nvPr/>
        </p:nvPicPr>
        <p:blipFill>
          <a:blip r:embed="rId8"/>
          <a:stretch>
            <a:fillRect/>
          </a:stretch>
        </p:blipFill>
        <p:spPr>
          <a:xfrm>
            <a:off x="7786887" y="3113286"/>
            <a:ext cx="4328913" cy="1477328"/>
          </a:xfrm>
          <a:prstGeom prst="rect">
            <a:avLst/>
          </a:prstGeom>
        </p:spPr>
      </p:pic>
    </p:spTree>
    <p:extLst>
      <p:ext uri="{BB962C8B-B14F-4D97-AF65-F5344CB8AC3E}">
        <p14:creationId xmlns:p14="http://schemas.microsoft.com/office/powerpoint/2010/main" val="160095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Directional coupler length and coupling coefficient</a:t>
            </a:r>
            <a:br>
              <a:rPr lang="en-US" sz="2500" spc="-5" dirty="0">
                <a:latin typeface="+mj-lt"/>
                <a:cs typeface="Lucida Sans"/>
              </a:rPr>
            </a:br>
            <a:r>
              <a:rPr lang="en-US" b="0" dirty="0"/>
              <a:t>Wavelength 1.5 µm – width 1.2 µm – gap 0.6 µm – thickness 300 nm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marL="285750" indent="-285750" algn="just">
              <a:buFont typeface="Arial"/>
              <a:buChar char="•"/>
            </a:pPr>
            <a:r>
              <a:rPr lang="en-US" sz="1200" dirty="0">
                <a:ea typeface="+mn-lt"/>
                <a:cs typeface="+mn-lt"/>
              </a:rPr>
              <a:t>K=0 → no hay </a:t>
            </a:r>
            <a:r>
              <a:rPr lang="en-US" sz="1200" dirty="0" err="1">
                <a:ea typeface="+mn-lt"/>
                <a:cs typeface="+mn-lt"/>
              </a:rPr>
              <a:t>transferencia</a:t>
            </a:r>
            <a:r>
              <a:rPr lang="en-US" sz="1200" dirty="0">
                <a:ea typeface="+mn-lt"/>
                <a:cs typeface="+mn-lt"/>
              </a:rPr>
              <a:t> (</a:t>
            </a:r>
            <a:r>
              <a:rPr lang="en-US" sz="1200" dirty="0" err="1">
                <a:ea typeface="+mn-lt"/>
                <a:cs typeface="+mn-lt"/>
              </a:rPr>
              <a:t>toda</a:t>
            </a:r>
            <a:r>
              <a:rPr lang="en-US" sz="1200" dirty="0">
                <a:ea typeface="+mn-lt"/>
                <a:cs typeface="+mn-lt"/>
              </a:rPr>
              <a:t> la </a:t>
            </a:r>
            <a:r>
              <a:rPr lang="en-US" sz="1200" dirty="0" err="1">
                <a:ea typeface="+mn-lt"/>
                <a:cs typeface="+mn-lt"/>
              </a:rPr>
              <a:t>potencia</a:t>
            </a:r>
            <a:r>
              <a:rPr lang="en-US" sz="1200" dirty="0">
                <a:ea typeface="+mn-lt"/>
                <a:cs typeface="+mn-lt"/>
              </a:rPr>
              <a:t> </a:t>
            </a:r>
            <a:r>
              <a:rPr lang="en-US" sz="1200" dirty="0" err="1">
                <a:ea typeface="+mn-lt"/>
                <a:cs typeface="+mn-lt"/>
              </a:rPr>
              <a:t>sigue</a:t>
            </a:r>
            <a:r>
              <a:rPr lang="en-US" sz="1200" dirty="0">
                <a:ea typeface="+mn-lt"/>
                <a:cs typeface="+mn-lt"/>
              </a:rPr>
              <a:t> en la </a:t>
            </a:r>
            <a:r>
              <a:rPr lang="en-US" sz="1200" dirty="0" err="1">
                <a:ea typeface="+mn-lt"/>
                <a:cs typeface="+mn-lt"/>
              </a:rPr>
              <a:t>guía</a:t>
            </a:r>
            <a:r>
              <a:rPr lang="en-US" sz="1200" dirty="0">
                <a:ea typeface="+mn-lt"/>
                <a:cs typeface="+mn-lt"/>
              </a:rPr>
              <a:t> original) </a:t>
            </a:r>
            <a:endParaRPr lang="es-ES" dirty="0"/>
          </a:p>
          <a:p>
            <a:pPr marL="285750" indent="-285750" algn="just">
              <a:buFont typeface="Arial"/>
              <a:buChar char="•"/>
            </a:pPr>
            <a:r>
              <a:rPr lang="en-US" sz="1200" dirty="0">
                <a:ea typeface="+mn-lt"/>
                <a:cs typeface="+mn-lt"/>
              </a:rPr>
              <a:t>K=1 → </a:t>
            </a:r>
            <a:r>
              <a:rPr lang="en-US" sz="1200" dirty="0" err="1">
                <a:ea typeface="+mn-lt"/>
                <a:cs typeface="+mn-lt"/>
              </a:rPr>
              <a:t>transferencia</a:t>
            </a:r>
            <a:r>
              <a:rPr lang="en-US" sz="1200" dirty="0">
                <a:ea typeface="+mn-lt"/>
                <a:cs typeface="+mn-lt"/>
              </a:rPr>
              <a:t> completa de </a:t>
            </a:r>
            <a:r>
              <a:rPr lang="en-US" sz="1200" dirty="0" err="1">
                <a:ea typeface="+mn-lt"/>
                <a:cs typeface="+mn-lt"/>
              </a:rPr>
              <a:t>potencia</a:t>
            </a:r>
            <a:r>
              <a:rPr lang="en-US" sz="1200" dirty="0">
                <a:ea typeface="+mn-lt"/>
                <a:cs typeface="+mn-lt"/>
              </a:rPr>
              <a:t> </a:t>
            </a:r>
            <a:endParaRPr lang="en-US" dirty="0"/>
          </a:p>
          <a:p>
            <a:pPr marL="285750" indent="-285750" algn="just">
              <a:buFont typeface="Arial"/>
              <a:buChar char="•"/>
            </a:pPr>
            <a:r>
              <a:rPr lang="en-US" sz="1200" dirty="0">
                <a:ea typeface="+mn-lt"/>
                <a:cs typeface="+mn-lt"/>
              </a:rPr>
              <a:t>K=0.5 → </a:t>
            </a:r>
            <a:r>
              <a:rPr lang="en-US" sz="1200" dirty="0" err="1">
                <a:ea typeface="+mn-lt"/>
                <a:cs typeface="+mn-lt"/>
              </a:rPr>
              <a:t>división</a:t>
            </a:r>
            <a:r>
              <a:rPr lang="en-US" sz="1200" dirty="0">
                <a:ea typeface="+mn-lt"/>
                <a:cs typeface="+mn-lt"/>
              </a:rPr>
              <a:t> 50/50</a:t>
            </a:r>
            <a:endParaRPr lang="en-US" dirty="0"/>
          </a:p>
          <a:p>
            <a:pPr algn="just"/>
            <a:r>
              <a:rPr lang="en-US" sz="1200" dirty="0">
                <a:ea typeface="+mn-lt"/>
                <a:cs typeface="+mn-lt"/>
              </a:rPr>
              <a:t>La </a:t>
            </a:r>
            <a:r>
              <a:rPr lang="en-US" sz="1200" dirty="0" err="1">
                <a:ea typeface="+mn-lt"/>
                <a:cs typeface="+mn-lt"/>
              </a:rPr>
              <a:t>longitud</a:t>
            </a:r>
            <a:r>
              <a:rPr lang="en-US" sz="1200" dirty="0">
                <a:ea typeface="+mn-lt"/>
                <a:cs typeface="+mn-lt"/>
              </a:rPr>
              <a:t> de </a:t>
            </a:r>
            <a:r>
              <a:rPr lang="en-US" sz="1200" dirty="0" err="1">
                <a:ea typeface="+mn-lt"/>
                <a:cs typeface="+mn-lt"/>
              </a:rPr>
              <a:t>acoplo</a:t>
            </a:r>
            <a:r>
              <a:rPr lang="en-US" sz="1200" dirty="0">
                <a:ea typeface="+mn-lt"/>
                <a:cs typeface="+mn-lt"/>
              </a:rPr>
              <a:t> Lπ </a:t>
            </a:r>
            <a:r>
              <a:rPr lang="en-US" sz="1200" dirty="0" err="1">
                <a:ea typeface="+mn-lt"/>
                <a:cs typeface="+mn-lt"/>
              </a:rPr>
              <a:t>determina</a:t>
            </a:r>
            <a:r>
              <a:rPr lang="en-US" sz="1200" dirty="0">
                <a:ea typeface="+mn-lt"/>
                <a:cs typeface="+mn-lt"/>
              </a:rPr>
              <a:t> la </a:t>
            </a:r>
            <a:r>
              <a:rPr lang="en-US" sz="1200" dirty="0" err="1">
                <a:ea typeface="+mn-lt"/>
                <a:cs typeface="+mn-lt"/>
              </a:rPr>
              <a:t>distancia</a:t>
            </a:r>
            <a:r>
              <a:rPr lang="en-US" sz="1200" dirty="0">
                <a:ea typeface="+mn-lt"/>
                <a:cs typeface="+mn-lt"/>
              </a:rPr>
              <a:t> </a:t>
            </a:r>
            <a:r>
              <a:rPr lang="en-US" sz="1200" dirty="0" err="1">
                <a:ea typeface="+mn-lt"/>
                <a:cs typeface="+mn-lt"/>
              </a:rPr>
              <a:t>necesaria</a:t>
            </a:r>
            <a:r>
              <a:rPr lang="en-US" sz="1200" dirty="0">
                <a:ea typeface="+mn-lt"/>
                <a:cs typeface="+mn-lt"/>
              </a:rPr>
              <a:t> para </a:t>
            </a:r>
            <a:r>
              <a:rPr lang="en-US" sz="1200" dirty="0" err="1">
                <a:ea typeface="+mn-lt"/>
                <a:cs typeface="+mn-lt"/>
              </a:rPr>
              <a:t>transferir</a:t>
            </a:r>
            <a:r>
              <a:rPr lang="en-US" sz="1200" dirty="0">
                <a:ea typeface="+mn-lt"/>
                <a:cs typeface="+mn-lt"/>
              </a:rPr>
              <a:t> </a:t>
            </a:r>
            <a:r>
              <a:rPr lang="en-US" sz="1200" dirty="0" err="1">
                <a:ea typeface="+mn-lt"/>
                <a:cs typeface="+mn-lt"/>
              </a:rPr>
              <a:t>completamente</a:t>
            </a:r>
            <a:r>
              <a:rPr lang="en-US" sz="1200" dirty="0">
                <a:ea typeface="+mn-lt"/>
                <a:cs typeface="+mn-lt"/>
              </a:rPr>
              <a:t> la </a:t>
            </a:r>
            <a:r>
              <a:rPr lang="en-US" sz="1200" dirty="0" err="1">
                <a:ea typeface="+mn-lt"/>
                <a:cs typeface="+mn-lt"/>
              </a:rPr>
              <a:t>energía</a:t>
            </a:r>
            <a:r>
              <a:rPr lang="en-US" sz="1200" dirty="0">
                <a:ea typeface="+mn-lt"/>
                <a:cs typeface="+mn-lt"/>
              </a:rPr>
              <a:t> de </a:t>
            </a:r>
            <a:r>
              <a:rPr lang="en-US" sz="1200" dirty="0" err="1">
                <a:ea typeface="+mn-lt"/>
                <a:cs typeface="+mn-lt"/>
              </a:rPr>
              <a:t>una</a:t>
            </a:r>
            <a:r>
              <a:rPr lang="en-US" sz="1200" dirty="0">
                <a:ea typeface="+mn-lt"/>
                <a:cs typeface="+mn-lt"/>
              </a:rPr>
              <a:t> </a:t>
            </a:r>
            <a:r>
              <a:rPr lang="en-US" sz="1200" dirty="0" err="1">
                <a:ea typeface="+mn-lt"/>
                <a:cs typeface="+mn-lt"/>
              </a:rPr>
              <a:t>guía</a:t>
            </a:r>
            <a:r>
              <a:rPr lang="en-US" sz="1200" dirty="0">
                <a:ea typeface="+mn-lt"/>
                <a:cs typeface="+mn-lt"/>
              </a:rPr>
              <a:t> a </a:t>
            </a:r>
            <a:r>
              <a:rPr lang="en-US" sz="1200" dirty="0" err="1">
                <a:ea typeface="+mn-lt"/>
                <a:cs typeface="+mn-lt"/>
              </a:rPr>
              <a:t>otra</a:t>
            </a:r>
            <a:r>
              <a:rPr lang="en-US" sz="1200" dirty="0">
                <a:ea typeface="+mn-lt"/>
                <a:cs typeface="+mn-lt"/>
              </a:rPr>
              <a:t>. Para </a:t>
            </a:r>
            <a:r>
              <a:rPr lang="en-US" sz="1200" dirty="0" err="1">
                <a:ea typeface="+mn-lt"/>
                <a:cs typeface="+mn-lt"/>
              </a:rPr>
              <a:t>obtener</a:t>
            </a:r>
            <a:r>
              <a:rPr lang="en-US" sz="1200" dirty="0">
                <a:ea typeface="+mn-lt"/>
                <a:cs typeface="+mn-lt"/>
              </a:rPr>
              <a:t> un divisor de </a:t>
            </a:r>
            <a:r>
              <a:rPr lang="en-US" sz="1200" dirty="0" err="1">
                <a:ea typeface="+mn-lt"/>
                <a:cs typeface="+mn-lt"/>
              </a:rPr>
              <a:t>potencia</a:t>
            </a:r>
            <a:r>
              <a:rPr lang="en-US" sz="1200" dirty="0">
                <a:ea typeface="+mn-lt"/>
                <a:cs typeface="+mn-lt"/>
              </a:rPr>
              <a:t> 50/50, la </a:t>
            </a:r>
            <a:r>
              <a:rPr lang="en-US" sz="1200" dirty="0" err="1">
                <a:ea typeface="+mn-lt"/>
                <a:cs typeface="+mn-lt"/>
              </a:rPr>
              <a:t>longitud</a:t>
            </a:r>
            <a:r>
              <a:rPr lang="en-US" sz="1200" dirty="0">
                <a:ea typeface="+mn-lt"/>
                <a:cs typeface="+mn-lt"/>
              </a:rPr>
              <a:t> del </a:t>
            </a:r>
            <a:r>
              <a:rPr lang="en-US" sz="1200" dirty="0" err="1">
                <a:ea typeface="+mn-lt"/>
                <a:cs typeface="+mn-lt"/>
              </a:rPr>
              <a:t>acoplador</a:t>
            </a:r>
            <a:r>
              <a:rPr lang="en-US" sz="1200" dirty="0">
                <a:ea typeface="+mn-lt"/>
                <a:cs typeface="+mn-lt"/>
              </a:rPr>
              <a:t> </a:t>
            </a:r>
            <a:r>
              <a:rPr lang="en-US" sz="1200" dirty="0" err="1">
                <a:ea typeface="+mn-lt"/>
                <a:cs typeface="+mn-lt"/>
              </a:rPr>
              <a:t>debe</a:t>
            </a:r>
            <a:r>
              <a:rPr lang="en-US" sz="1200" dirty="0">
                <a:ea typeface="+mn-lt"/>
                <a:cs typeface="+mn-lt"/>
              </a:rPr>
              <a:t> ser Lπ/2</a:t>
            </a:r>
            <a:endParaRPr lang="en-US" sz="1200" dirty="0">
              <a:latin typeface="Calibri"/>
              <a:ea typeface="Calibri"/>
              <a:cs typeface="Calibri"/>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3909688" y="2609722"/>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L/</a:t>
            </a:r>
            <a:r>
              <a:rPr lang="en-US" dirty="0" err="1"/>
              <a:t>Lpi</a:t>
            </a:r>
            <a:r>
              <a:rPr lang="en-US" dirty="0"/>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pic>
        <p:nvPicPr>
          <p:cNvPr id="4" name="Imagen 3" descr="Gráfico, Gráfico de líneas&#10;&#10;El contenido generado por IA puede ser incorrecto.">
            <a:extLst>
              <a:ext uri="{FF2B5EF4-FFF2-40B4-BE49-F238E27FC236}">
                <a16:creationId xmlns:a16="http://schemas.microsoft.com/office/drawing/2014/main" id="{C3C63B46-4874-A1A7-8B5D-A66E630E772D}"/>
              </a:ext>
            </a:extLst>
          </p:cNvPr>
          <p:cNvPicPr>
            <a:picLocks noChangeAspect="1"/>
          </p:cNvPicPr>
          <p:nvPr/>
        </p:nvPicPr>
        <p:blipFill>
          <a:blip r:embed="rId5"/>
          <a:stretch>
            <a:fillRect/>
          </a:stretch>
        </p:blipFill>
        <p:spPr>
          <a:xfrm>
            <a:off x="4194641" y="1562300"/>
            <a:ext cx="3802719" cy="3016225"/>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r>
              <a:rPr lang="es-ES" sz="1200" dirty="0"/>
              <a:t>Con una longitud de acoplo (</a:t>
            </a:r>
            <a:r>
              <a:rPr lang="es-ES" sz="1200" dirty="0" err="1"/>
              <a:t>Lpi</a:t>
            </a:r>
            <a:r>
              <a:rPr lang="es-ES" sz="1200" dirty="0"/>
              <a:t>) de unos 94 micrómetros y configurando el dispositivo a la mitad de esa distancia (L=</a:t>
            </a:r>
            <a:r>
              <a:rPr lang="es-ES" sz="1200" dirty="0" err="1"/>
              <a:t>Lpi</a:t>
            </a:r>
            <a:r>
              <a:rPr lang="es-ES" sz="1200" dirty="0"/>
              <a:t>/2), se consigue un acoplador que divide la señal exactamente al 50%. Esto permite que la potencia se reparta de forma equilibrada con muy pocas pérdidas, apenas 0.18 dB.</a:t>
            </a:r>
          </a:p>
          <a:p>
            <a:r>
              <a:rPr lang="es-ES" sz="1200" dirty="0"/>
              <a:t>En el funcionamiento se observa cómo la energía va pasando de un lado a otro de forma cíclica debido a la interacción entre los diferentes modos de propagación. Además, se confirma que la separación entre las guías (el gap) es la clave: si aumentamos esa distancia, la conexión se debilita y la longitud necesaria para transferir la energía crece drásticamente, pasando de unos 30 a 580 micrómetros.</a:t>
            </a: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26AA8E46-9ACF-16AC-3488-6CA4962E1F11}"/>
              </a:ext>
            </a:extLst>
          </p:cNvPr>
          <p:cNvPicPr>
            <a:picLocks noChangeAspect="1"/>
          </p:cNvPicPr>
          <p:nvPr/>
        </p:nvPicPr>
        <p:blipFill>
          <a:blip r:embed="rId4"/>
          <a:stretch>
            <a:fillRect/>
          </a:stretch>
        </p:blipFill>
        <p:spPr>
          <a:xfrm>
            <a:off x="683159" y="1476814"/>
            <a:ext cx="5101079" cy="3187194"/>
          </a:xfrm>
          <a:prstGeom prst="rect">
            <a:avLst/>
          </a:prstGeom>
        </p:spPr>
      </p:pic>
      <p:pic>
        <p:nvPicPr>
          <p:cNvPr id="5" name="Imagen 4" descr="Gráfico, Gráfico de líneas&#10;&#10;El contenido generado por IA puede ser incorrecto.">
            <a:extLst>
              <a:ext uri="{FF2B5EF4-FFF2-40B4-BE49-F238E27FC236}">
                <a16:creationId xmlns:a16="http://schemas.microsoft.com/office/drawing/2014/main" id="{2E4BC672-E73E-1314-8E3F-C73A76F0B1FE}"/>
              </a:ext>
            </a:extLst>
          </p:cNvPr>
          <p:cNvPicPr>
            <a:picLocks noChangeAspect="1"/>
          </p:cNvPicPr>
          <p:nvPr/>
        </p:nvPicPr>
        <p:blipFill>
          <a:blip r:embed="rId5"/>
          <a:stretch>
            <a:fillRect/>
          </a:stretch>
        </p:blipFill>
        <p:spPr>
          <a:xfrm>
            <a:off x="6816899" y="1451800"/>
            <a:ext cx="4161147" cy="3237221"/>
          </a:xfrm>
          <a:prstGeom prst="rect">
            <a:avLst/>
          </a:prstGeom>
        </p:spPr>
      </p:pic>
    </p:spTree>
    <p:extLst>
      <p:ext uri="{BB962C8B-B14F-4D97-AF65-F5344CB8AC3E}">
        <p14:creationId xmlns:p14="http://schemas.microsoft.com/office/powerpoint/2010/main" val="1558326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Parallel uncoupled waveguides – TE0 mode</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1384995"/>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r>
              <a:rPr lang="es-ES" sz="1200" dirty="0"/>
              <a:t>Para conseguir que dos guías no se pasen energía entre sí (manteniendo el acoplamiento K por debajo de 0.01) en un tramo de 10 mm, necesitamos una longitud de acoplo (</a:t>
            </a:r>
            <a:r>
              <a:rPr lang="es-ES" sz="1200" dirty="0" err="1"/>
              <a:t>Lpi</a:t>
            </a:r>
            <a:r>
              <a:rPr lang="es-ES" sz="1200" dirty="0"/>
              <a:t>) de unos 156.8 micrómetros.</a:t>
            </a:r>
          </a:p>
          <a:p>
            <a:r>
              <a:rPr lang="es-ES" sz="1200" dirty="0"/>
              <a:t>En las guías tipo "</a:t>
            </a:r>
            <a:r>
              <a:rPr lang="es-ES" sz="1200" dirty="0" err="1"/>
              <a:t>deep</a:t>
            </a:r>
            <a:r>
              <a:rPr lang="es-ES" sz="1200" dirty="0"/>
              <a:t>" (profundas), basta con dejar una separación mínima de unos 0.97 micrómetros para mantenerlas aisladas. Sin embargo, en las guías tipo "</a:t>
            </a:r>
            <a:r>
              <a:rPr lang="es-ES" sz="1200" dirty="0" err="1"/>
              <a:t>shallow</a:t>
            </a:r>
            <a:r>
              <a:rPr lang="es-ES" sz="1200" dirty="0"/>
              <a:t>" (superficiales), la separación debe ser mayor, de unos 1.34 micrómetros. Esto demuestra que las guías superficiales tienden a conectarse más fácilmente entre ellas y, por tanto, necesitan estar más lejos para no interferirse. En ambos tipos de guía, separar los caminos es una forma muy eficaz de reducir la interacción, ya que el acoplamiento cae de forma drástica al aumentar el hueco entre ellas.</a:t>
            </a:r>
            <a:endParaRPr lang="en-US" sz="1200" dirty="0">
              <a:latin typeface="Calibri"/>
              <a:ea typeface="Calibri"/>
              <a:cs typeface="Calibri"/>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477328"/>
              </a:xfrm>
              <a:prstGeom prst="rect">
                <a:avLst/>
              </a:prstGeom>
              <a:noFill/>
            </p:spPr>
            <p:txBody>
              <a:bodyPr wrap="square" rtlCol="0">
                <a:spAutoFit/>
              </a:bodyPr>
              <a:lstStyle/>
              <a:p>
                <a:pPr algn="ctr"/>
                <a:r>
                  <a:rPr lang="en-US" b="1" dirty="0"/>
                  <a:t>shallow</a:t>
                </a:r>
                <a:r>
                  <a:rPr lang="en-US" dirty="0"/>
                  <a:t> waveguide</a:t>
                </a:r>
              </a:p>
              <a:p>
                <a:pPr algn="ctr"/>
                <a:r>
                  <a:rPr lang="en-US" dirty="0" err="1"/>
                  <a:t>slab_thickness</a:t>
                </a:r>
                <a:r>
                  <a:rPr lang="en-US" dirty="0"/>
                  <a:t> = 150 nm</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477328"/>
              </a:xfrm>
              <a:prstGeom prst="rect">
                <a:avLst/>
              </a:prstGeom>
              <a:blipFill>
                <a:blip r:embed="rId6"/>
                <a:stretch>
                  <a:fillRect t="-2479" b="-5785"/>
                </a:stretch>
              </a:blipFill>
            </p:spPr>
            <p:txBody>
              <a:bodyPr/>
              <a:lstStyle/>
              <a:p>
                <a:r>
                  <a:rPr lang="es-ES">
                    <a:noFill/>
                  </a:rPr>
                  <a:t> </a:t>
                </a:r>
              </a:p>
            </p:txBody>
          </p:sp>
        </mc:Fallback>
      </mc:AlternateContent>
      <p:pic>
        <p:nvPicPr>
          <p:cNvPr id="6" name="Imagen 5" descr="Gráfico, Gráfico de líneas&#10;&#10;El contenido generado por IA puede ser incorrecto.">
            <a:extLst>
              <a:ext uri="{FF2B5EF4-FFF2-40B4-BE49-F238E27FC236}">
                <a16:creationId xmlns:a16="http://schemas.microsoft.com/office/drawing/2014/main" id="{6581E837-1498-EA2F-40FC-433D65B52FAE}"/>
              </a:ext>
            </a:extLst>
          </p:cNvPr>
          <p:cNvPicPr>
            <a:picLocks noChangeAspect="1"/>
          </p:cNvPicPr>
          <p:nvPr/>
        </p:nvPicPr>
        <p:blipFill>
          <a:blip r:embed="rId7"/>
          <a:stretch>
            <a:fillRect/>
          </a:stretch>
        </p:blipFill>
        <p:spPr>
          <a:xfrm>
            <a:off x="1487785" y="1216638"/>
            <a:ext cx="4202597" cy="3310538"/>
          </a:xfrm>
          <a:prstGeom prst="rect">
            <a:avLst/>
          </a:prstGeom>
        </p:spPr>
      </p:pic>
      <p:pic>
        <p:nvPicPr>
          <p:cNvPr id="7" name="Imagen 6" descr="Gráfico, Gráfico de líneas&#10;&#10;El contenido generado por IA puede ser incorrecto.">
            <a:extLst>
              <a:ext uri="{FF2B5EF4-FFF2-40B4-BE49-F238E27FC236}">
                <a16:creationId xmlns:a16="http://schemas.microsoft.com/office/drawing/2014/main" id="{94B9BBB1-B16A-9FAF-F5C7-85D3BD0E7EED}"/>
              </a:ext>
            </a:extLst>
          </p:cNvPr>
          <p:cNvPicPr>
            <a:picLocks noChangeAspect="1"/>
          </p:cNvPicPr>
          <p:nvPr/>
        </p:nvPicPr>
        <p:blipFill>
          <a:blip r:embed="rId8"/>
          <a:stretch>
            <a:fillRect/>
          </a:stretch>
        </p:blipFill>
        <p:spPr>
          <a:xfrm>
            <a:off x="6922638" y="1221440"/>
            <a:ext cx="4283850" cy="3316943"/>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Multimode Interference (MMI) Coupler cross-section</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#2: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u="sng"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532601" y="4732267"/>
            <a:ext cx="11199971" cy="1569660"/>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r>
              <a:rPr lang="es-ES" sz="1200" dirty="0"/>
              <a:t>La sección del dispositivo (llamada MMI), que tiene un ancho de 12 micrómetros, permite que la luz viaje de varias formas distintas (modos), casi todas ellas en formato TE. Al mezclarse estas formas de viajar, se crean patrones visuales de interferencia que permiten que la imagen de entrada se replique más adelante (un efecto conocido como </a:t>
            </a:r>
            <a:r>
              <a:rPr lang="es-ES" sz="1200" dirty="0" err="1"/>
              <a:t>auto-imaging</a:t>
            </a:r>
            <a:r>
              <a:rPr lang="es-ES" sz="1200" dirty="0"/>
              <a:t>).</a:t>
            </a:r>
          </a:p>
          <a:p>
            <a:r>
              <a:rPr lang="es-ES" sz="1200" dirty="0"/>
              <a:t>Tomando como base las dos formas principales en las que se mueve la luz, se calcula una distancia clave (</a:t>
            </a:r>
            <a:r>
              <a:rPr lang="es-ES" sz="1200" dirty="0" err="1"/>
              <a:t>Lpi</a:t>
            </a:r>
            <a:r>
              <a:rPr lang="es-ES" sz="1200" dirty="0"/>
              <a:t>) de unos 219.4 micrómetros. Este número es fundamental porque marca el ritmo con el que se repiten esos patrones de interferencia, y es lo que usamos para decidir qué tan largo debe ser el dispositivo si queremos dividir la potencia de la luz con total precisión.</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55427-574B-EB0A-FE20-1C4D6B84145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FDC3E96-49BE-7B02-2773-A7932D8C256C}"/>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Multimode Interference (MMI) Coupler cross-section</a:t>
            </a:r>
            <a:endParaRPr lang="en-US" sz="2500" b="0" dirty="0">
              <a:latin typeface="+mj-lt"/>
              <a:cs typeface="Lucida Sans"/>
            </a:endParaRPr>
          </a:p>
        </p:txBody>
      </p:sp>
      <p:pic>
        <p:nvPicPr>
          <p:cNvPr id="83" name="Gráfico 82">
            <a:extLst>
              <a:ext uri="{FF2B5EF4-FFF2-40B4-BE49-F238E27FC236}">
                <a16:creationId xmlns:a16="http://schemas.microsoft.com/office/drawing/2014/main" id="{B82BA411-0B81-07E0-9E43-CBB22AD4B7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AACE153-9246-78DA-E410-6E50ECB5BACA}"/>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A548D2D5-DEA7-E4CD-2828-724997EC87EF}"/>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pic>
        <p:nvPicPr>
          <p:cNvPr id="5" name="Imagen 4" descr="Interfaz de usuario gráfica&#10;&#10;El contenido generado por IA puede ser incorrecto.">
            <a:extLst>
              <a:ext uri="{FF2B5EF4-FFF2-40B4-BE49-F238E27FC236}">
                <a16:creationId xmlns:a16="http://schemas.microsoft.com/office/drawing/2014/main" id="{02857F7C-F798-2B65-6313-E74F147493BD}"/>
              </a:ext>
            </a:extLst>
          </p:cNvPr>
          <p:cNvPicPr>
            <a:picLocks noChangeAspect="1"/>
          </p:cNvPicPr>
          <p:nvPr/>
        </p:nvPicPr>
        <p:blipFill>
          <a:blip r:embed="rId4"/>
          <a:stretch>
            <a:fillRect/>
          </a:stretch>
        </p:blipFill>
        <p:spPr>
          <a:xfrm>
            <a:off x="1057034" y="1026819"/>
            <a:ext cx="2854939" cy="2031707"/>
          </a:xfrm>
          <a:prstGeom prst="rect">
            <a:avLst/>
          </a:prstGeom>
        </p:spPr>
      </p:pic>
      <p:pic>
        <p:nvPicPr>
          <p:cNvPr id="6" name="Imagen 5" descr="Imagen que contiene Gráfico&#10;&#10;El contenido generado por IA puede ser incorrecto.">
            <a:extLst>
              <a:ext uri="{FF2B5EF4-FFF2-40B4-BE49-F238E27FC236}">
                <a16:creationId xmlns:a16="http://schemas.microsoft.com/office/drawing/2014/main" id="{5EFA86D3-8737-0D71-F04B-17DAA06A2063}"/>
              </a:ext>
            </a:extLst>
          </p:cNvPr>
          <p:cNvPicPr>
            <a:picLocks noChangeAspect="1"/>
          </p:cNvPicPr>
          <p:nvPr/>
        </p:nvPicPr>
        <p:blipFill>
          <a:blip r:embed="rId5"/>
          <a:stretch>
            <a:fillRect/>
          </a:stretch>
        </p:blipFill>
        <p:spPr>
          <a:xfrm>
            <a:off x="4794997" y="1044428"/>
            <a:ext cx="2889438" cy="2016099"/>
          </a:xfrm>
          <a:prstGeom prst="rect">
            <a:avLst/>
          </a:prstGeom>
        </p:spPr>
      </p:pic>
      <p:pic>
        <p:nvPicPr>
          <p:cNvPr id="7" name="Imagen 6" descr="Gráfico, Aplicación&#10;&#10;El contenido generado por IA puede ser incorrecto.">
            <a:extLst>
              <a:ext uri="{FF2B5EF4-FFF2-40B4-BE49-F238E27FC236}">
                <a16:creationId xmlns:a16="http://schemas.microsoft.com/office/drawing/2014/main" id="{2C36E8AA-F381-030F-A8BD-7D625D282555}"/>
              </a:ext>
            </a:extLst>
          </p:cNvPr>
          <p:cNvPicPr>
            <a:picLocks noChangeAspect="1"/>
          </p:cNvPicPr>
          <p:nvPr/>
        </p:nvPicPr>
        <p:blipFill>
          <a:blip r:embed="rId6"/>
          <a:stretch>
            <a:fillRect/>
          </a:stretch>
        </p:blipFill>
        <p:spPr>
          <a:xfrm>
            <a:off x="8443312" y="1119668"/>
            <a:ext cx="2898963" cy="2028585"/>
          </a:xfrm>
          <a:prstGeom prst="rect">
            <a:avLst/>
          </a:prstGeom>
        </p:spPr>
      </p:pic>
      <p:pic>
        <p:nvPicPr>
          <p:cNvPr id="10" name="Imagen 9">
            <a:extLst>
              <a:ext uri="{FF2B5EF4-FFF2-40B4-BE49-F238E27FC236}">
                <a16:creationId xmlns:a16="http://schemas.microsoft.com/office/drawing/2014/main" id="{1F72ED2D-CA45-BCC6-D160-8F20D86A00AB}"/>
              </a:ext>
            </a:extLst>
          </p:cNvPr>
          <p:cNvPicPr>
            <a:picLocks noChangeAspect="1"/>
          </p:cNvPicPr>
          <p:nvPr/>
        </p:nvPicPr>
        <p:blipFill>
          <a:blip r:embed="rId7"/>
          <a:stretch>
            <a:fillRect/>
          </a:stretch>
        </p:blipFill>
        <p:spPr>
          <a:xfrm>
            <a:off x="2243868" y="3709022"/>
            <a:ext cx="7878274" cy="2086266"/>
          </a:xfrm>
          <a:prstGeom prst="rect">
            <a:avLst/>
          </a:prstGeom>
        </p:spPr>
      </p:pic>
      <p:sp>
        <p:nvSpPr>
          <p:cNvPr id="11" name="Rectángulo 10">
            <a:extLst>
              <a:ext uri="{FF2B5EF4-FFF2-40B4-BE49-F238E27FC236}">
                <a16:creationId xmlns:a16="http://schemas.microsoft.com/office/drawing/2014/main" id="{73BCECEE-D726-3AB9-411E-F5575E1B11AC}"/>
              </a:ext>
            </a:extLst>
          </p:cNvPr>
          <p:cNvSpPr/>
          <p:nvPr/>
        </p:nvSpPr>
        <p:spPr>
          <a:xfrm>
            <a:off x="480239" y="914400"/>
            <a:ext cx="11199971" cy="2514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ángulo 11">
            <a:extLst>
              <a:ext uri="{FF2B5EF4-FFF2-40B4-BE49-F238E27FC236}">
                <a16:creationId xmlns:a16="http://schemas.microsoft.com/office/drawing/2014/main" id="{C652555E-3849-EB7C-DA0E-2163B1B1CC4B}"/>
              </a:ext>
            </a:extLst>
          </p:cNvPr>
          <p:cNvSpPr/>
          <p:nvPr/>
        </p:nvSpPr>
        <p:spPr>
          <a:xfrm>
            <a:off x="2133600" y="3619295"/>
            <a:ext cx="8077200" cy="232430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2018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 – 6.1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r>
              <a:rPr lang="es-ES" sz="1200" dirty="0"/>
              <a:t>El acoplador tipo MMI (con un ancho de 6.6 micrómetros) funciona mezclando diferentes rayos de luz para repartir la energía entre sus salidas gracias al efecto de </a:t>
            </a:r>
            <a:r>
              <a:rPr lang="es-ES" sz="1200" dirty="0" err="1"/>
              <a:t>auto-imagen</a:t>
            </a:r>
            <a:r>
              <a:rPr lang="es-ES" sz="1200" dirty="0"/>
              <a:t>. Para este diseño, la distancia de referencia (</a:t>
            </a:r>
            <a:r>
              <a:rPr lang="es-ES" sz="1200" dirty="0" err="1"/>
              <a:t>Lpi</a:t>
            </a:r>
            <a:r>
              <a:rPr lang="es-ES" sz="1200" dirty="0"/>
              <a:t>) es de unos 69.0 micrómetros.</a:t>
            </a:r>
          </a:p>
          <a:p>
            <a:r>
              <a:rPr lang="es-ES" sz="1200" dirty="0"/>
              <a:t>Si fabricamos el dispositivo con una longitud de la mitad de esa distancia (unos 34.5 micrómetros), logramos que la potencia se divida casi a partes iguales, con una proporción cercana al 52% y 48% en cada salida. En este proceso se pierde un poco de energía (unos 0.42 dB) debido a pequeños desajustes en el guiado de la luz.</a:t>
            </a:r>
          </a:p>
          <a:p>
            <a:r>
              <a:rPr lang="es-ES" sz="1200" dirty="0"/>
              <a:t>Comparado con un acoplador direccional común, el MMI aguanta mucho mejor los pequeños fallos de fabricación o cambios en su forma, aunque no es tan exacto a la hora de conseguir un reparto de energía perfecto del 50/50.</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002BF7E3-24D6-4F7E-E8B5-ABDEF8C0B992}"/>
              </a:ext>
            </a:extLst>
          </p:cNvPr>
          <p:cNvPicPr>
            <a:picLocks noChangeAspect="1"/>
          </p:cNvPicPr>
          <p:nvPr/>
        </p:nvPicPr>
        <p:blipFill>
          <a:blip r:embed="rId4"/>
          <a:stretch>
            <a:fillRect/>
          </a:stretch>
        </p:blipFill>
        <p:spPr>
          <a:xfrm>
            <a:off x="6755229" y="2886315"/>
            <a:ext cx="3448050" cy="295275"/>
          </a:xfrm>
          <a:prstGeom prst="rect">
            <a:avLst/>
          </a:prstGeom>
        </p:spPr>
      </p:pic>
      <p:sp>
        <p:nvSpPr>
          <p:cNvPr id="6" name="Rectángulo 5">
            <a:extLst>
              <a:ext uri="{FF2B5EF4-FFF2-40B4-BE49-F238E27FC236}">
                <a16:creationId xmlns:a16="http://schemas.microsoft.com/office/drawing/2014/main" id="{98DE5FDA-4E91-E843-E84A-1467BFAA9986}"/>
              </a:ext>
            </a:extLst>
          </p:cNvPr>
          <p:cNvSpPr/>
          <p:nvPr/>
        </p:nvSpPr>
        <p:spPr>
          <a:xfrm>
            <a:off x="1828800" y="1377510"/>
            <a:ext cx="44196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7D279DD7-ED10-76C9-19AC-CCEB15424FF0}"/>
              </a:ext>
            </a:extLst>
          </p:cNvPr>
          <p:cNvSpPr/>
          <p:nvPr/>
        </p:nvSpPr>
        <p:spPr>
          <a:xfrm>
            <a:off x="6559606" y="2752085"/>
            <a:ext cx="3803594" cy="52451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n 9">
            <a:extLst>
              <a:ext uri="{FF2B5EF4-FFF2-40B4-BE49-F238E27FC236}">
                <a16:creationId xmlns:a16="http://schemas.microsoft.com/office/drawing/2014/main" id="{F1AD4942-CB73-2CE9-5102-5BC99659217D}"/>
              </a:ext>
            </a:extLst>
          </p:cNvPr>
          <p:cNvPicPr>
            <a:picLocks noChangeAspect="1"/>
          </p:cNvPicPr>
          <p:nvPr/>
        </p:nvPicPr>
        <p:blipFill>
          <a:blip r:embed="rId5"/>
          <a:stretch>
            <a:fillRect/>
          </a:stretch>
        </p:blipFill>
        <p:spPr>
          <a:xfrm>
            <a:off x="2102222" y="1475561"/>
            <a:ext cx="3872756" cy="3175781"/>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015663"/>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r>
              <a:rPr lang="es-ES" sz="1200" dirty="0"/>
              <a:t>Al realizar un ajuste más preciso en el diseño (reduciendo la longitud en 0.5 micrómetros y moviendo ligeramente la posición en 0.03), se ha conseguido un equilibrio mucho mejor entre el reparto de energía y la eficiencia. Con este cambio, la potencia se divide de forma casi perfecta (aproximadamente un 50.7% y 49.3% en cada salida).</a:t>
            </a:r>
          </a:p>
          <a:p>
            <a:r>
              <a:rPr lang="es-ES" sz="1200" dirty="0"/>
              <a:t>Además, la pérdida de señal ha bajado hasta los 0.39 dB, lo que significa que la luz se mezcla de forma más eficaz dentro del dispositivo. Este pequeño retoque en las medidas permite que la imagen de la señal de entrada se enfoque mucho mejor justo en las salidas. En definitiva, queda demostrado que incluso los cambios más diminutos en la forma del componente tienen un efecto enorme en lo bien que funciona el MMI.</a:t>
            </a:r>
          </a:p>
        </p:txBody>
      </p:sp>
      <p:sp>
        <p:nvSpPr>
          <p:cNvPr id="7" name="Rectángulo 6">
            <a:extLst>
              <a:ext uri="{FF2B5EF4-FFF2-40B4-BE49-F238E27FC236}">
                <a16:creationId xmlns:a16="http://schemas.microsoft.com/office/drawing/2014/main" id="{9772491E-4FFB-FFC3-C855-72A4B15F3E73}"/>
              </a:ext>
            </a:extLst>
          </p:cNvPr>
          <p:cNvSpPr/>
          <p:nvPr/>
        </p:nvSpPr>
        <p:spPr>
          <a:xfrm>
            <a:off x="4114800" y="1377510"/>
            <a:ext cx="41148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CDE61B0-2302-954D-C6F6-1FB9D9392778}"/>
              </a:ext>
            </a:extLst>
          </p:cNvPr>
          <p:cNvPicPr>
            <a:picLocks noChangeAspect="1"/>
          </p:cNvPicPr>
          <p:nvPr/>
        </p:nvPicPr>
        <p:blipFill>
          <a:blip r:embed="rId4"/>
          <a:stretch>
            <a:fillRect/>
          </a:stretch>
        </p:blipFill>
        <p:spPr>
          <a:xfrm>
            <a:off x="4316885" y="1521359"/>
            <a:ext cx="3785082" cy="3018329"/>
          </a:xfrm>
          <a:prstGeom prst="rect">
            <a:avLst/>
          </a:prstGeom>
        </p:spPr>
      </p:pic>
    </p:spTree>
    <p:extLst>
      <p:ext uri="{BB962C8B-B14F-4D97-AF65-F5344CB8AC3E}">
        <p14:creationId xmlns:p14="http://schemas.microsoft.com/office/powerpoint/2010/main" val="2685215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015663"/>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dirty="0">
                <a:ea typeface="+mn-lt"/>
                <a:cs typeface="+mn-lt"/>
              </a:rPr>
              <a:t>Tras </a:t>
            </a:r>
            <a:r>
              <a:rPr lang="en-US" sz="1200" dirty="0" err="1">
                <a:ea typeface="+mn-lt"/>
                <a:cs typeface="+mn-lt"/>
              </a:rPr>
              <a:t>modificar</a:t>
            </a:r>
            <a:r>
              <a:rPr lang="en-US" sz="1200" dirty="0">
                <a:ea typeface="+mn-lt"/>
                <a:cs typeface="+mn-lt"/>
              </a:rPr>
              <a:t> también </a:t>
            </a:r>
            <a:r>
              <a:rPr lang="en-US" sz="1200" dirty="0" err="1">
                <a:ea typeface="+mn-lt"/>
                <a:cs typeface="+mn-lt"/>
              </a:rPr>
              <a:t>el</a:t>
            </a:r>
            <a:r>
              <a:rPr lang="en-US" sz="1200" dirty="0">
                <a:ea typeface="+mn-lt"/>
                <a:cs typeface="+mn-lt"/>
              </a:rPr>
              <a:t> ancho de las </a:t>
            </a:r>
            <a:r>
              <a:rPr lang="en-US" sz="1200" dirty="0" err="1">
                <a:ea typeface="+mn-lt"/>
                <a:cs typeface="+mn-lt"/>
              </a:rPr>
              <a:t>guías</a:t>
            </a:r>
            <a:r>
              <a:rPr lang="en-US" sz="1200" dirty="0">
                <a:ea typeface="+mn-lt"/>
                <a:cs typeface="+mn-lt"/>
              </a:rPr>
              <a:t> de entrada/</a:t>
            </a:r>
            <a:r>
              <a:rPr lang="en-US" sz="1200" dirty="0" err="1">
                <a:ea typeface="+mn-lt"/>
                <a:cs typeface="+mn-lt"/>
              </a:rPr>
              <a:t>salida</a:t>
            </a:r>
            <a:r>
              <a:rPr lang="en-US" sz="1200" dirty="0">
                <a:ea typeface="+mn-lt"/>
                <a:cs typeface="+mn-lt"/>
              </a:rPr>
              <a:t> (</a:t>
            </a:r>
            <a:r>
              <a:rPr lang="en-US" sz="1200" dirty="0" err="1">
                <a:ea typeface="+mn-lt"/>
                <a:cs typeface="+mn-lt"/>
              </a:rPr>
              <a:t>Δw</a:t>
            </a:r>
            <a:r>
              <a:rPr lang="en-US" sz="1200" dirty="0">
                <a:ea typeface="+mn-lt"/>
                <a:cs typeface="+mn-lt"/>
              </a:rPr>
              <a:t> = +0.6 µm) junto con </a:t>
            </a:r>
            <a:r>
              <a:rPr lang="en-US" sz="1200" dirty="0" err="1">
                <a:ea typeface="+mn-lt"/>
                <a:cs typeface="+mn-lt"/>
              </a:rPr>
              <a:t>ajustes</a:t>
            </a:r>
            <a:r>
              <a:rPr lang="en-US" sz="1200" dirty="0">
                <a:ea typeface="+mn-lt"/>
                <a:cs typeface="+mn-lt"/>
              </a:rPr>
              <a:t> </a:t>
            </a:r>
            <a:r>
              <a:rPr lang="en-US" sz="1200" dirty="0" err="1">
                <a:ea typeface="+mn-lt"/>
                <a:cs typeface="+mn-lt"/>
              </a:rPr>
              <a:t>finos</a:t>
            </a:r>
            <a:r>
              <a:rPr lang="en-US" sz="1200" dirty="0">
                <a:ea typeface="+mn-lt"/>
                <a:cs typeface="+mn-lt"/>
              </a:rPr>
              <a:t> (</a:t>
            </a:r>
            <a:r>
              <a:rPr lang="en-US" sz="1200" dirty="0" err="1">
                <a:ea typeface="+mn-lt"/>
                <a:cs typeface="+mn-lt"/>
              </a:rPr>
              <a:t>dLMMI</a:t>
            </a:r>
            <a:r>
              <a:rPr lang="en-US" sz="1200" dirty="0">
                <a:ea typeface="+mn-lt"/>
                <a:cs typeface="+mn-lt"/>
              </a:rPr>
              <a:t>=−0.29, </a:t>
            </a:r>
            <a:r>
              <a:rPr lang="en-US" sz="1200" dirty="0" err="1">
                <a:ea typeface="+mn-lt"/>
                <a:cs typeface="+mn-lt"/>
              </a:rPr>
              <a:t>dy</a:t>
            </a:r>
            <a:r>
              <a:rPr lang="en-US" sz="1200" dirty="0">
                <a:ea typeface="+mn-lt"/>
                <a:cs typeface="+mn-lt"/>
              </a:rPr>
              <a:t>=0.045), se </a:t>
            </a:r>
            <a:r>
              <a:rPr lang="en-US" sz="1200" dirty="0" err="1">
                <a:ea typeface="+mn-lt"/>
                <a:cs typeface="+mn-lt"/>
              </a:rPr>
              <a:t>alcanza</a:t>
            </a:r>
            <a:r>
              <a:rPr lang="en-US" sz="1200" dirty="0">
                <a:ea typeface="+mn-lt"/>
                <a:cs typeface="+mn-lt"/>
              </a:rPr>
              <a:t> un </a:t>
            </a:r>
            <a:r>
              <a:rPr lang="en-US" sz="1200" dirty="0" err="1">
                <a:ea typeface="+mn-lt"/>
                <a:cs typeface="+mn-lt"/>
              </a:rPr>
              <a:t>comportamiento</a:t>
            </a:r>
            <a:r>
              <a:rPr lang="en-US" sz="1200" dirty="0">
                <a:ea typeface="+mn-lt"/>
                <a:cs typeface="+mn-lt"/>
              </a:rPr>
              <a:t> </a:t>
            </a:r>
            <a:r>
              <a:rPr lang="en-US" sz="1200" dirty="0" err="1">
                <a:ea typeface="+mn-lt"/>
                <a:cs typeface="+mn-lt"/>
              </a:rPr>
              <a:t>casi</a:t>
            </a:r>
            <a:r>
              <a:rPr lang="en-US" sz="1200" dirty="0">
                <a:ea typeface="+mn-lt"/>
                <a:cs typeface="+mn-lt"/>
              </a:rPr>
              <a:t> ideal con ratios ≈0.509/0.491 y </a:t>
            </a:r>
            <a:r>
              <a:rPr lang="en-US" sz="1200" dirty="0" err="1">
                <a:ea typeface="+mn-lt"/>
                <a:cs typeface="+mn-lt"/>
              </a:rPr>
              <a:t>potencias</a:t>
            </a:r>
            <a:r>
              <a:rPr lang="en-US" sz="1200" dirty="0">
                <a:ea typeface="+mn-lt"/>
                <a:cs typeface="+mn-lt"/>
              </a:rPr>
              <a:t> ≈0.50/0.48. Las </a:t>
            </a:r>
            <a:r>
              <a:rPr lang="en-US" sz="1200" dirty="0" err="1">
                <a:ea typeface="+mn-lt"/>
                <a:cs typeface="+mn-lt"/>
              </a:rPr>
              <a:t>pérdidas</a:t>
            </a:r>
            <a:r>
              <a:rPr lang="en-US" sz="1200" dirty="0">
                <a:ea typeface="+mn-lt"/>
                <a:cs typeface="+mn-lt"/>
              </a:rPr>
              <a:t> se </a:t>
            </a:r>
            <a:r>
              <a:rPr lang="en-US" sz="1200" dirty="0" err="1">
                <a:ea typeface="+mn-lt"/>
                <a:cs typeface="+mn-lt"/>
              </a:rPr>
              <a:t>reducen</a:t>
            </a:r>
            <a:r>
              <a:rPr lang="en-US" sz="1200" dirty="0">
                <a:ea typeface="+mn-lt"/>
                <a:cs typeface="+mn-lt"/>
              </a:rPr>
              <a:t> </a:t>
            </a:r>
            <a:r>
              <a:rPr lang="en-US" sz="1200" dirty="0" err="1">
                <a:ea typeface="+mn-lt"/>
                <a:cs typeface="+mn-lt"/>
              </a:rPr>
              <a:t>significativamente</a:t>
            </a:r>
            <a:r>
              <a:rPr lang="en-US" sz="1200" dirty="0">
                <a:ea typeface="+mn-lt"/>
                <a:cs typeface="+mn-lt"/>
              </a:rPr>
              <a:t> hasta ~0.095 dB, </a:t>
            </a:r>
            <a:r>
              <a:rPr lang="en-US" sz="1200" dirty="0" err="1">
                <a:ea typeface="+mn-lt"/>
                <a:cs typeface="+mn-lt"/>
              </a:rPr>
              <a:t>cumpliendo</a:t>
            </a:r>
            <a:r>
              <a:rPr lang="en-US" sz="1200" dirty="0">
                <a:ea typeface="+mn-lt"/>
                <a:cs typeface="+mn-lt"/>
              </a:rPr>
              <a:t> </a:t>
            </a:r>
            <a:r>
              <a:rPr lang="en-US" sz="1200" dirty="0" err="1">
                <a:ea typeface="+mn-lt"/>
                <a:cs typeface="+mn-lt"/>
              </a:rPr>
              <a:t>el</a:t>
            </a:r>
            <a:r>
              <a:rPr lang="en-US" sz="1200" dirty="0">
                <a:ea typeface="+mn-lt"/>
                <a:cs typeface="+mn-lt"/>
              </a:rPr>
              <a:t> </a:t>
            </a:r>
            <a:r>
              <a:rPr lang="en-US" sz="1200" dirty="0" err="1">
                <a:ea typeface="+mn-lt"/>
                <a:cs typeface="+mn-lt"/>
              </a:rPr>
              <a:t>objetivo</a:t>
            </a:r>
            <a:r>
              <a:rPr lang="en-US" sz="1200" dirty="0">
                <a:ea typeface="+mn-lt"/>
                <a:cs typeface="+mn-lt"/>
              </a:rPr>
              <a:t> (&lt;0.1 dB) y </a:t>
            </a:r>
            <a:r>
              <a:rPr lang="en-US" sz="1200" dirty="0" err="1">
                <a:ea typeface="+mn-lt"/>
                <a:cs typeface="+mn-lt"/>
              </a:rPr>
              <a:t>mostrando</a:t>
            </a:r>
            <a:r>
              <a:rPr lang="en-US" sz="1200" dirty="0">
                <a:ea typeface="+mn-lt"/>
                <a:cs typeface="+mn-lt"/>
              </a:rPr>
              <a:t> </a:t>
            </a:r>
            <a:r>
              <a:rPr lang="en-US" sz="1200" dirty="0" err="1">
                <a:ea typeface="+mn-lt"/>
                <a:cs typeface="+mn-lt"/>
              </a:rPr>
              <a:t>una</a:t>
            </a:r>
            <a:r>
              <a:rPr lang="en-US" sz="1200" dirty="0">
                <a:ea typeface="+mn-lt"/>
                <a:cs typeface="+mn-lt"/>
              </a:rPr>
              <a:t> </a:t>
            </a:r>
            <a:r>
              <a:rPr lang="en-US" sz="1200" dirty="0" err="1">
                <a:ea typeface="+mn-lt"/>
                <a:cs typeface="+mn-lt"/>
              </a:rPr>
              <a:t>mejora</a:t>
            </a:r>
            <a:r>
              <a:rPr lang="en-US" sz="1200" dirty="0">
                <a:ea typeface="+mn-lt"/>
                <a:cs typeface="+mn-lt"/>
              </a:rPr>
              <a:t> </a:t>
            </a:r>
            <a:r>
              <a:rPr lang="en-US" sz="1200" dirty="0" err="1">
                <a:ea typeface="+mn-lt"/>
                <a:cs typeface="+mn-lt"/>
              </a:rPr>
              <a:t>clara</a:t>
            </a:r>
            <a:r>
              <a:rPr lang="en-US" sz="1200" dirty="0">
                <a:ea typeface="+mn-lt"/>
                <a:cs typeface="+mn-lt"/>
              </a:rPr>
              <a:t> </a:t>
            </a:r>
            <a:r>
              <a:rPr lang="en-US" sz="1200" dirty="0" err="1">
                <a:ea typeface="+mn-lt"/>
                <a:cs typeface="+mn-lt"/>
              </a:rPr>
              <a:t>en</a:t>
            </a:r>
            <a:r>
              <a:rPr lang="en-US" sz="1200" dirty="0">
                <a:ea typeface="+mn-lt"/>
                <a:cs typeface="+mn-lt"/>
              </a:rPr>
              <a:t> </a:t>
            </a:r>
            <a:r>
              <a:rPr lang="en-US" sz="1200" dirty="0" err="1">
                <a:ea typeface="+mn-lt"/>
                <a:cs typeface="+mn-lt"/>
              </a:rPr>
              <a:t>eficiencia</a:t>
            </a:r>
            <a:r>
              <a:rPr lang="en-US" sz="1200" dirty="0">
                <a:ea typeface="+mn-lt"/>
                <a:cs typeface="+mn-lt"/>
              </a:rPr>
              <a:t>. El </a:t>
            </a:r>
            <a:r>
              <a:rPr lang="en-US" sz="1200" dirty="0" err="1">
                <a:ea typeface="+mn-lt"/>
                <a:cs typeface="+mn-lt"/>
              </a:rPr>
              <a:t>mejor</a:t>
            </a:r>
            <a:r>
              <a:rPr lang="en-US" sz="1200" dirty="0">
                <a:ea typeface="+mn-lt"/>
                <a:cs typeface="+mn-lt"/>
              </a:rPr>
              <a:t> </a:t>
            </a:r>
            <a:r>
              <a:rPr lang="en-US" sz="1200" dirty="0" err="1">
                <a:ea typeface="+mn-lt"/>
                <a:cs typeface="+mn-lt"/>
              </a:rPr>
              <a:t>acoplo</a:t>
            </a:r>
            <a:r>
              <a:rPr lang="en-US" sz="1200" dirty="0">
                <a:ea typeface="+mn-lt"/>
                <a:cs typeface="+mn-lt"/>
              </a:rPr>
              <a:t> modal reduce </a:t>
            </a:r>
            <a:r>
              <a:rPr lang="en-US" sz="1200" dirty="0" err="1">
                <a:ea typeface="+mn-lt"/>
                <a:cs typeface="+mn-lt"/>
              </a:rPr>
              <a:t>reflexiones</a:t>
            </a:r>
            <a:r>
              <a:rPr lang="en-US" sz="1200" dirty="0">
                <a:ea typeface="+mn-lt"/>
                <a:cs typeface="+mn-lt"/>
              </a:rPr>
              <a:t> y </a:t>
            </a:r>
            <a:r>
              <a:rPr lang="en-US" sz="1200" dirty="0" err="1">
                <a:ea typeface="+mn-lt"/>
                <a:cs typeface="+mn-lt"/>
              </a:rPr>
              <a:t>desajustes</a:t>
            </a:r>
            <a:r>
              <a:rPr lang="en-US" sz="1200" dirty="0">
                <a:ea typeface="+mn-lt"/>
                <a:cs typeface="+mn-lt"/>
              </a:rPr>
              <a:t> entre la </a:t>
            </a:r>
            <a:r>
              <a:rPr lang="en-US" sz="1200" dirty="0" err="1">
                <a:ea typeface="+mn-lt"/>
                <a:cs typeface="+mn-lt"/>
              </a:rPr>
              <a:t>región</a:t>
            </a:r>
            <a:r>
              <a:rPr lang="en-US" sz="1200" dirty="0">
                <a:ea typeface="+mn-lt"/>
                <a:cs typeface="+mn-lt"/>
              </a:rPr>
              <a:t> MMI y las </a:t>
            </a:r>
            <a:r>
              <a:rPr lang="en-US" sz="1200" dirty="0" err="1">
                <a:ea typeface="+mn-lt"/>
                <a:cs typeface="+mn-lt"/>
              </a:rPr>
              <a:t>guías</a:t>
            </a:r>
            <a:r>
              <a:rPr lang="en-US" sz="1200" dirty="0">
                <a:ea typeface="+mn-lt"/>
                <a:cs typeface="+mn-lt"/>
              </a:rPr>
              <a:t> I/O. En conjunto, </a:t>
            </a:r>
            <a:r>
              <a:rPr lang="en-US" sz="1200" dirty="0" err="1">
                <a:ea typeface="+mn-lt"/>
                <a:cs typeface="+mn-lt"/>
              </a:rPr>
              <a:t>optimizar</a:t>
            </a:r>
            <a:r>
              <a:rPr lang="en-US" sz="1200" dirty="0">
                <a:ea typeface="+mn-lt"/>
                <a:cs typeface="+mn-lt"/>
              </a:rPr>
              <a:t> </a:t>
            </a:r>
            <a:r>
              <a:rPr lang="en-US" sz="1200" dirty="0" err="1">
                <a:ea typeface="+mn-lt"/>
                <a:cs typeface="+mn-lt"/>
              </a:rPr>
              <a:t>simultáneamente</a:t>
            </a:r>
            <a:r>
              <a:rPr lang="en-US" sz="1200" dirty="0">
                <a:ea typeface="+mn-lt"/>
                <a:cs typeface="+mn-lt"/>
              </a:rPr>
              <a:t> </a:t>
            </a:r>
            <a:r>
              <a:rPr lang="en-US" sz="1200" dirty="0" err="1">
                <a:ea typeface="+mn-lt"/>
                <a:cs typeface="+mn-lt"/>
              </a:rPr>
              <a:t>geometría</a:t>
            </a:r>
            <a:r>
              <a:rPr lang="en-US" sz="1200" dirty="0">
                <a:ea typeface="+mn-lt"/>
                <a:cs typeface="+mn-lt"/>
              </a:rPr>
              <a:t> y ancho de </a:t>
            </a:r>
            <a:r>
              <a:rPr lang="en-US" sz="1200" dirty="0" err="1">
                <a:ea typeface="+mn-lt"/>
                <a:cs typeface="+mn-lt"/>
              </a:rPr>
              <a:t>guías</a:t>
            </a:r>
            <a:r>
              <a:rPr lang="en-US" sz="1200" dirty="0">
                <a:ea typeface="+mn-lt"/>
                <a:cs typeface="+mn-lt"/>
              </a:rPr>
              <a:t> </a:t>
            </a:r>
            <a:r>
              <a:rPr lang="en-US" sz="1200" dirty="0" err="1">
                <a:ea typeface="+mn-lt"/>
                <a:cs typeface="+mn-lt"/>
              </a:rPr>
              <a:t>resulta</a:t>
            </a:r>
            <a:r>
              <a:rPr lang="en-US" sz="1200" dirty="0">
                <a:ea typeface="+mn-lt"/>
                <a:cs typeface="+mn-lt"/>
              </a:rPr>
              <a:t> clave para </a:t>
            </a:r>
            <a:r>
              <a:rPr lang="en-US" sz="1200" dirty="0" err="1">
                <a:ea typeface="+mn-lt"/>
                <a:cs typeface="+mn-lt"/>
              </a:rPr>
              <a:t>lograr</a:t>
            </a:r>
            <a:r>
              <a:rPr lang="en-US" sz="1200" dirty="0">
                <a:ea typeface="+mn-lt"/>
                <a:cs typeface="+mn-lt"/>
              </a:rPr>
              <a:t> alto </a:t>
            </a:r>
            <a:r>
              <a:rPr lang="en-US" sz="1200" dirty="0" err="1">
                <a:ea typeface="+mn-lt"/>
                <a:cs typeface="+mn-lt"/>
              </a:rPr>
              <a:t>rendimiento</a:t>
            </a:r>
            <a:r>
              <a:rPr lang="en-US" sz="1200" dirty="0">
                <a:ea typeface="+mn-lt"/>
                <a:cs typeface="+mn-lt"/>
              </a:rPr>
              <a:t>.</a:t>
            </a:r>
            <a:endParaRPr lang="es-ES" dirty="0"/>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2362200" y="1252818"/>
            <a:ext cx="4114800" cy="343072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5" name="Imagen 4">
            <a:extLst>
              <a:ext uri="{FF2B5EF4-FFF2-40B4-BE49-F238E27FC236}">
                <a16:creationId xmlns:a16="http://schemas.microsoft.com/office/drawing/2014/main" id="{D9E476F5-B05B-96F8-9316-233B8480C15A}"/>
              </a:ext>
            </a:extLst>
          </p:cNvPr>
          <p:cNvPicPr>
            <a:picLocks noChangeAspect="1"/>
          </p:cNvPicPr>
          <p:nvPr/>
        </p:nvPicPr>
        <p:blipFill>
          <a:blip r:embed="rId4"/>
          <a:stretch>
            <a:fillRect/>
          </a:stretch>
        </p:blipFill>
        <p:spPr>
          <a:xfrm>
            <a:off x="6864524" y="3029991"/>
            <a:ext cx="3457575" cy="285750"/>
          </a:xfrm>
          <a:prstGeom prst="rect">
            <a:avLst/>
          </a:prstGeom>
        </p:spPr>
      </p:pic>
      <p:sp>
        <p:nvSpPr>
          <p:cNvPr id="6" name="Rectángulo 5">
            <a:extLst>
              <a:ext uri="{FF2B5EF4-FFF2-40B4-BE49-F238E27FC236}">
                <a16:creationId xmlns:a16="http://schemas.microsoft.com/office/drawing/2014/main" id="{D552CD83-BA10-B6AB-B5FE-0DD56B32B274}"/>
              </a:ext>
            </a:extLst>
          </p:cNvPr>
          <p:cNvSpPr/>
          <p:nvPr/>
        </p:nvSpPr>
        <p:spPr>
          <a:xfrm>
            <a:off x="6781800" y="2895600"/>
            <a:ext cx="3733800" cy="5334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n 10">
            <a:extLst>
              <a:ext uri="{FF2B5EF4-FFF2-40B4-BE49-F238E27FC236}">
                <a16:creationId xmlns:a16="http://schemas.microsoft.com/office/drawing/2014/main" id="{720D23CD-79A1-1C6A-9197-6AB9DD3DCE9F}"/>
              </a:ext>
            </a:extLst>
          </p:cNvPr>
          <p:cNvPicPr>
            <a:picLocks noChangeAspect="1"/>
          </p:cNvPicPr>
          <p:nvPr/>
        </p:nvPicPr>
        <p:blipFill>
          <a:blip r:embed="rId5"/>
          <a:stretch>
            <a:fillRect/>
          </a:stretch>
        </p:blipFill>
        <p:spPr>
          <a:xfrm>
            <a:off x="2421080" y="1318912"/>
            <a:ext cx="3997040" cy="3275530"/>
          </a:xfrm>
          <a:prstGeom prst="rect">
            <a:avLst/>
          </a:prstGeom>
        </p:spPr>
      </p:pic>
    </p:spTree>
    <p:extLst>
      <p:ext uri="{BB962C8B-B14F-4D97-AF65-F5344CB8AC3E}">
        <p14:creationId xmlns:p14="http://schemas.microsoft.com/office/powerpoint/2010/main" val="1023731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#7 – 1x4 Multimode Interference Coupler </a:t>
            </a:r>
            <a:br>
              <a:rPr lang="en-US" sz="2500" dirty="0"/>
            </a:br>
            <a:r>
              <a:rPr lang="en-US" b="0" dirty="0"/>
              <a:t>Wavelength 1.55 µm, </a:t>
            </a:r>
            <a:r>
              <a:rPr lang="en-US" b="0" dirty="0" err="1"/>
              <a:t>wMMI</a:t>
            </a:r>
            <a:r>
              <a:rPr lang="en-US" b="0" dirty="0"/>
              <a:t> = 10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600" y="4786397"/>
            <a:ext cx="11199971" cy="1569660"/>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r>
              <a:rPr lang="es-ES" sz="1200" dirty="0"/>
              <a:t>Se ha creado un divisor tipo MMI con una entrada y cuatro salidas (1x4), ensanchando el cuerpo hasta los 10 </a:t>
            </a:r>
            <a:r>
              <a:rPr lang="es-ES" sz="1200" dirty="0" err="1"/>
              <a:t>micrometros</a:t>
            </a:r>
            <a:r>
              <a:rPr lang="es-ES" sz="1200" dirty="0"/>
              <a:t> para que quepan todas las vías de escape. Al probarlo, se ve que la energía se reparte casi como se esperaba: cada salida recibe cerca del 25% de la potencia total, con pequeñas variaciones entre el 22.7% y el 25%. Esto indica que el equilibrio es bueno, aunque todavía se puede pulir.</a:t>
            </a:r>
          </a:p>
          <a:p>
            <a:r>
              <a:rPr lang="es-ES" sz="1200" dirty="0"/>
              <a:t>Al observar cómo viaja la luz por dentro, se nota claramente cómo se forman poco a poco cuatro puntos brillantes (lóbulos) justo antes de llegar a las salidas, confirmando que el efecto de autoimagen funciona correctamente.</a:t>
            </a:r>
          </a:p>
          <a:p>
            <a:r>
              <a:rPr lang="es-ES" sz="1200" dirty="0"/>
              <a:t>Las pérdidas de energía son de unos 0.20 dB. Es un valor moderado, algo más alto que en los modelos de dos salidas porque manejar cuatro canales a la vez hace que la mezcla de la luz sea más compleja. Se ha detectado una ligera diferencia entre las salidas de los extremos y las del centro, lo que sugiere que se podría mejorar todavía más ajustando con precisión la longitud del bloque o la posición exacta de las salidas.</a:t>
            </a:r>
          </a:p>
        </p:txBody>
      </p:sp>
      <p:sp>
        <p:nvSpPr>
          <p:cNvPr id="7" name="Rectángulo 6">
            <a:extLst>
              <a:ext uri="{FF2B5EF4-FFF2-40B4-BE49-F238E27FC236}">
                <a16:creationId xmlns:a16="http://schemas.microsoft.com/office/drawing/2014/main" id="{AFB86587-21D4-5A33-7D00-DDF170C919BA}"/>
              </a:ext>
            </a:extLst>
          </p:cNvPr>
          <p:cNvSpPr/>
          <p:nvPr/>
        </p:nvSpPr>
        <p:spPr>
          <a:xfrm>
            <a:off x="2514600" y="1240009"/>
            <a:ext cx="3962400" cy="345365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27A312D7-FBEB-3B40-AFFC-C827E91BBCE0}"/>
              </a:ext>
            </a:extLst>
          </p:cNvPr>
          <p:cNvPicPr>
            <a:picLocks noChangeAspect="1"/>
          </p:cNvPicPr>
          <p:nvPr/>
        </p:nvPicPr>
        <p:blipFill>
          <a:blip r:embed="rId4"/>
          <a:stretch>
            <a:fillRect/>
          </a:stretch>
        </p:blipFill>
        <p:spPr>
          <a:xfrm>
            <a:off x="6909995" y="2847894"/>
            <a:ext cx="3295650" cy="381000"/>
          </a:xfrm>
          <a:prstGeom prst="rect">
            <a:avLst/>
          </a:prstGeom>
        </p:spPr>
      </p:pic>
      <p:sp>
        <p:nvSpPr>
          <p:cNvPr id="6" name="Rectángulo 5">
            <a:extLst>
              <a:ext uri="{FF2B5EF4-FFF2-40B4-BE49-F238E27FC236}">
                <a16:creationId xmlns:a16="http://schemas.microsoft.com/office/drawing/2014/main" id="{C8C4BC2C-B0FF-D69F-5584-F1D9379EB748}"/>
              </a:ext>
            </a:extLst>
          </p:cNvPr>
          <p:cNvSpPr/>
          <p:nvPr/>
        </p:nvSpPr>
        <p:spPr>
          <a:xfrm>
            <a:off x="6751320" y="2704781"/>
            <a:ext cx="3611880" cy="70532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a:extLst>
              <a:ext uri="{FF2B5EF4-FFF2-40B4-BE49-F238E27FC236}">
                <a16:creationId xmlns:a16="http://schemas.microsoft.com/office/drawing/2014/main" id="{13DB41F7-68DB-E96D-7808-53207AD97A40}"/>
              </a:ext>
            </a:extLst>
          </p:cNvPr>
          <p:cNvPicPr>
            <a:picLocks noChangeAspect="1"/>
          </p:cNvPicPr>
          <p:nvPr/>
        </p:nvPicPr>
        <p:blipFill>
          <a:blip r:embed="rId5"/>
          <a:stretch>
            <a:fillRect/>
          </a:stretch>
        </p:blipFill>
        <p:spPr>
          <a:xfrm>
            <a:off x="2633791" y="1289617"/>
            <a:ext cx="3724018" cy="3384920"/>
          </a:xfrm>
          <a:prstGeom prst="rect">
            <a:avLst/>
          </a:prstGeom>
        </p:spPr>
      </p:pic>
    </p:spTree>
    <p:extLst>
      <p:ext uri="{BB962C8B-B14F-4D97-AF65-F5344CB8AC3E}">
        <p14:creationId xmlns:p14="http://schemas.microsoft.com/office/powerpoint/2010/main" val="699864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593338" y="4842097"/>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ea typeface="+mn-lt"/>
                <a:cs typeface="+mn-lt"/>
              </a:rPr>
              <a:t>Al </a:t>
            </a:r>
            <a:r>
              <a:rPr lang="en-US" sz="1200" dirty="0" err="1">
                <a:ea typeface="+mn-lt"/>
                <a:cs typeface="+mn-lt"/>
              </a:rPr>
              <a:t>aumentar</a:t>
            </a:r>
            <a:r>
              <a:rPr lang="en-US" sz="1200" dirty="0">
                <a:ea typeface="+mn-lt"/>
                <a:cs typeface="+mn-lt"/>
              </a:rPr>
              <a:t> </a:t>
            </a:r>
            <a:r>
              <a:rPr lang="en-US" sz="1200" dirty="0" err="1">
                <a:ea typeface="+mn-lt"/>
                <a:cs typeface="+mn-lt"/>
              </a:rPr>
              <a:t>el</a:t>
            </a:r>
            <a:r>
              <a:rPr lang="en-US" sz="1200" dirty="0">
                <a:ea typeface="+mn-lt"/>
                <a:cs typeface="+mn-lt"/>
              </a:rPr>
              <a:t> gap, la </a:t>
            </a:r>
            <a:r>
              <a:rPr lang="en-US" sz="1200" dirty="0" err="1">
                <a:ea typeface="+mn-lt"/>
                <a:cs typeface="+mn-lt"/>
              </a:rPr>
              <a:t>longitud</a:t>
            </a:r>
            <a:r>
              <a:rPr lang="en-US" sz="1200" dirty="0">
                <a:ea typeface="+mn-lt"/>
                <a:cs typeface="+mn-lt"/>
              </a:rPr>
              <a:t> de </a:t>
            </a:r>
            <a:r>
              <a:rPr lang="en-US" sz="1200" dirty="0" err="1">
                <a:ea typeface="+mn-lt"/>
                <a:cs typeface="+mn-lt"/>
              </a:rPr>
              <a:t>acoplamiento</a:t>
            </a:r>
            <a:r>
              <a:rPr lang="en-US" sz="1200" dirty="0">
                <a:ea typeface="+mn-lt"/>
                <a:cs typeface="+mn-lt"/>
              </a:rPr>
              <a:t> Lπ </a:t>
            </a:r>
            <a:r>
              <a:rPr lang="en-US" sz="1200" dirty="0" err="1">
                <a:ea typeface="+mn-lt"/>
                <a:cs typeface="+mn-lt"/>
              </a:rPr>
              <a:t>crece</a:t>
            </a:r>
            <a:r>
              <a:rPr lang="en-US" sz="1200" dirty="0">
                <a:ea typeface="+mn-lt"/>
                <a:cs typeface="+mn-lt"/>
              </a:rPr>
              <a:t> </a:t>
            </a:r>
            <a:r>
              <a:rPr lang="en-US" sz="1200" dirty="0" err="1">
                <a:ea typeface="+mn-lt"/>
                <a:cs typeface="+mn-lt"/>
              </a:rPr>
              <a:t>rápidamente</a:t>
            </a:r>
            <a:r>
              <a:rPr lang="en-US" sz="1200" dirty="0">
                <a:ea typeface="+mn-lt"/>
                <a:cs typeface="+mn-lt"/>
              </a:rPr>
              <a:t> </a:t>
            </a:r>
            <a:r>
              <a:rPr lang="en-US" sz="1200" dirty="0" err="1">
                <a:ea typeface="+mn-lt"/>
                <a:cs typeface="+mn-lt"/>
              </a:rPr>
              <a:t>porque</a:t>
            </a:r>
            <a:r>
              <a:rPr lang="en-US" sz="1200" dirty="0">
                <a:ea typeface="+mn-lt"/>
                <a:cs typeface="+mn-lt"/>
              </a:rPr>
              <a:t> </a:t>
            </a:r>
            <a:r>
              <a:rPr lang="en-US" sz="1200" dirty="0" err="1">
                <a:ea typeface="+mn-lt"/>
                <a:cs typeface="+mn-lt"/>
              </a:rPr>
              <a:t>disminuye</a:t>
            </a:r>
            <a:r>
              <a:rPr lang="en-US" sz="1200" dirty="0">
                <a:ea typeface="+mn-lt"/>
                <a:cs typeface="+mn-lt"/>
              </a:rPr>
              <a:t> </a:t>
            </a:r>
            <a:r>
              <a:rPr lang="en-US" sz="1200" dirty="0" err="1">
                <a:ea typeface="+mn-lt"/>
                <a:cs typeface="+mn-lt"/>
              </a:rPr>
              <a:t>el</a:t>
            </a:r>
            <a:r>
              <a:rPr lang="en-US" sz="1200" dirty="0">
                <a:ea typeface="+mn-lt"/>
                <a:cs typeface="+mn-lt"/>
              </a:rPr>
              <a:t> </a:t>
            </a:r>
            <a:r>
              <a:rPr lang="en-US" sz="1200" dirty="0" err="1">
                <a:ea typeface="+mn-lt"/>
                <a:cs typeface="+mn-lt"/>
              </a:rPr>
              <a:t>solapamiento</a:t>
            </a:r>
            <a:r>
              <a:rPr lang="en-US" sz="1200" dirty="0">
                <a:ea typeface="+mn-lt"/>
                <a:cs typeface="+mn-lt"/>
              </a:rPr>
              <a:t> entre los </a:t>
            </a:r>
            <a:r>
              <a:rPr lang="en-US" sz="1200" dirty="0" err="1">
                <a:ea typeface="+mn-lt"/>
                <a:cs typeface="+mn-lt"/>
              </a:rPr>
              <a:t>modos</a:t>
            </a:r>
            <a:r>
              <a:rPr lang="en-US" sz="1200" dirty="0">
                <a:ea typeface="+mn-lt"/>
                <a:cs typeface="+mn-lt"/>
              </a:rPr>
              <a:t> y, </a:t>
            </a:r>
            <a:r>
              <a:rPr lang="en-US" sz="1200" dirty="0" err="1">
                <a:ea typeface="+mn-lt"/>
                <a:cs typeface="+mn-lt"/>
              </a:rPr>
              <a:t>por</a:t>
            </a:r>
            <a:r>
              <a:rPr lang="en-US" sz="1200" dirty="0">
                <a:ea typeface="+mn-lt"/>
                <a:cs typeface="+mn-lt"/>
              </a:rPr>
              <a:t> tanto, la </a:t>
            </a:r>
            <a:r>
              <a:rPr lang="en-US" sz="1200" dirty="0" err="1">
                <a:ea typeface="+mn-lt"/>
                <a:cs typeface="+mn-lt"/>
              </a:rPr>
              <a:t>diferencia</a:t>
            </a:r>
            <a:r>
              <a:rPr lang="en-US" sz="1200" dirty="0">
                <a:ea typeface="+mn-lt"/>
                <a:cs typeface="+mn-lt"/>
              </a:rPr>
              <a:t> de </a:t>
            </a:r>
            <a:r>
              <a:rPr lang="en-US" sz="1200" dirty="0" err="1">
                <a:ea typeface="+mn-lt"/>
                <a:cs typeface="+mn-lt"/>
              </a:rPr>
              <a:t>índices</a:t>
            </a:r>
            <a:r>
              <a:rPr lang="en-US" sz="1200" dirty="0">
                <a:ea typeface="+mn-lt"/>
                <a:cs typeface="+mn-lt"/>
              </a:rPr>
              <a:t> </a:t>
            </a:r>
            <a:r>
              <a:rPr lang="en-US" sz="1200" dirty="0" err="1">
                <a:ea typeface="+mn-lt"/>
                <a:cs typeface="+mn-lt"/>
              </a:rPr>
              <a:t>efectivos</a:t>
            </a:r>
            <a:r>
              <a:rPr lang="en-US" sz="1200" dirty="0">
                <a:ea typeface="+mn-lt"/>
                <a:cs typeface="+mn-lt"/>
              </a:rPr>
              <a:t> (Δneff). Como Lπ  es </a:t>
            </a:r>
            <a:r>
              <a:rPr lang="en-US" sz="1200" dirty="0" err="1">
                <a:ea typeface="+mn-lt"/>
                <a:cs typeface="+mn-lt"/>
              </a:rPr>
              <a:t>inversamente</a:t>
            </a:r>
            <a:r>
              <a:rPr lang="en-US" sz="1200" dirty="0">
                <a:ea typeface="+mn-lt"/>
                <a:cs typeface="+mn-lt"/>
              </a:rPr>
              <a:t> </a:t>
            </a:r>
            <a:r>
              <a:rPr lang="en-US" sz="1200" dirty="0" err="1">
                <a:ea typeface="+mn-lt"/>
                <a:cs typeface="+mn-lt"/>
              </a:rPr>
              <a:t>proporcional</a:t>
            </a:r>
            <a:r>
              <a:rPr lang="en-US" sz="1200" dirty="0">
                <a:ea typeface="+mn-lt"/>
                <a:cs typeface="+mn-lt"/>
              </a:rPr>
              <a:t> a </a:t>
            </a:r>
            <a:r>
              <a:rPr lang="en-US" sz="1200" dirty="0" err="1">
                <a:ea typeface="+mn-lt"/>
                <a:cs typeface="+mn-lt"/>
              </a:rPr>
              <a:t>Δneff</a:t>
            </a:r>
            <a:r>
              <a:rPr lang="en-US" sz="1200" dirty="0">
                <a:ea typeface="+mn-lt"/>
                <a:cs typeface="+mn-lt"/>
              </a:rPr>
              <a:t>, </a:t>
            </a:r>
            <a:r>
              <a:rPr lang="en-US" sz="1200" dirty="0" err="1">
                <a:ea typeface="+mn-lt"/>
                <a:cs typeface="+mn-lt"/>
              </a:rPr>
              <a:t>cuando</a:t>
            </a:r>
            <a:r>
              <a:rPr lang="en-US" sz="1200" dirty="0">
                <a:ea typeface="+mn-lt"/>
                <a:cs typeface="+mn-lt"/>
              </a:rPr>
              <a:t> </a:t>
            </a:r>
            <a:r>
              <a:rPr lang="en-US" sz="1200" dirty="0" err="1">
                <a:ea typeface="+mn-lt"/>
                <a:cs typeface="+mn-lt"/>
              </a:rPr>
              <a:t>esta</a:t>
            </a:r>
            <a:r>
              <a:rPr lang="en-US" sz="1200" dirty="0">
                <a:ea typeface="+mn-lt"/>
                <a:cs typeface="+mn-lt"/>
              </a:rPr>
              <a:t> </a:t>
            </a:r>
            <a:r>
              <a:rPr lang="en-US" sz="1200" dirty="0" err="1">
                <a:ea typeface="+mn-lt"/>
                <a:cs typeface="+mn-lt"/>
              </a:rPr>
              <a:t>tiende</a:t>
            </a:r>
            <a:r>
              <a:rPr lang="en-US" sz="1200" dirty="0">
                <a:ea typeface="+mn-lt"/>
                <a:cs typeface="+mn-lt"/>
              </a:rPr>
              <a:t> a cero, Lπ  se </a:t>
            </a:r>
            <a:r>
              <a:rPr lang="en-US" sz="1200" dirty="0" err="1">
                <a:ea typeface="+mn-lt"/>
                <a:cs typeface="+mn-lt"/>
              </a:rPr>
              <a:t>dispara</a:t>
            </a:r>
            <a:r>
              <a:rPr lang="en-US" sz="1200" dirty="0">
                <a:ea typeface="+mn-lt"/>
                <a:cs typeface="+mn-lt"/>
              </a:rPr>
              <a:t> a </a:t>
            </a:r>
            <a:r>
              <a:rPr lang="en-US" sz="1200" dirty="0" err="1">
                <a:ea typeface="+mn-lt"/>
                <a:cs typeface="+mn-lt"/>
              </a:rPr>
              <a:t>valores</a:t>
            </a:r>
            <a:r>
              <a:rPr lang="en-US" sz="1200" dirty="0">
                <a:ea typeface="+mn-lt"/>
                <a:cs typeface="+mn-lt"/>
              </a:rPr>
              <a:t> </a:t>
            </a:r>
            <a:r>
              <a:rPr lang="en-US" sz="1200" dirty="0" err="1">
                <a:ea typeface="+mn-lt"/>
                <a:cs typeface="+mn-lt"/>
              </a:rPr>
              <a:t>muy</a:t>
            </a:r>
            <a:r>
              <a:rPr lang="en-US" sz="1200" dirty="0">
                <a:ea typeface="+mn-lt"/>
                <a:cs typeface="+mn-lt"/>
              </a:rPr>
              <a:t> altos.</a:t>
            </a:r>
            <a:endParaRPr lang="es-ES" sz="1200" dirty="0"/>
          </a:p>
          <a:p>
            <a:pPr algn="just"/>
            <a:endParaRPr lang="en-US" sz="1200" dirty="0">
              <a:ea typeface="+mn-lt"/>
              <a:cs typeface="+mn-lt"/>
            </a:endParaRPr>
          </a:p>
          <a:p>
            <a:pPr algn="just"/>
            <a:r>
              <a:rPr lang="en-US" sz="1200" dirty="0">
                <a:ea typeface="+mn-lt"/>
                <a:cs typeface="+mn-lt"/>
              </a:rPr>
              <a:t>En la </a:t>
            </a:r>
            <a:r>
              <a:rPr lang="en-US" sz="1200" dirty="0" err="1">
                <a:ea typeface="+mn-lt"/>
                <a:cs typeface="+mn-lt"/>
              </a:rPr>
              <a:t>configuración</a:t>
            </a:r>
            <a:r>
              <a:rPr lang="en-US" sz="1200" dirty="0">
                <a:ea typeface="+mn-lt"/>
                <a:cs typeface="+mn-lt"/>
              </a:rPr>
              <a:t> </a:t>
            </a:r>
            <a:r>
              <a:rPr lang="en-US" sz="1200" b="1" dirty="0">
                <a:ea typeface="+mn-lt"/>
                <a:cs typeface="+mn-lt"/>
              </a:rPr>
              <a:t>deep</a:t>
            </a:r>
            <a:r>
              <a:rPr lang="en-US" sz="1200" dirty="0">
                <a:ea typeface="+mn-lt"/>
                <a:cs typeface="+mn-lt"/>
              </a:rPr>
              <a:t>, </a:t>
            </a:r>
            <a:r>
              <a:rPr lang="en-US" sz="1200" dirty="0" err="1">
                <a:ea typeface="+mn-lt"/>
                <a:cs typeface="+mn-lt"/>
              </a:rPr>
              <a:t>el</a:t>
            </a:r>
            <a:r>
              <a:rPr lang="en-US" sz="1200" dirty="0">
                <a:ea typeface="+mn-lt"/>
                <a:cs typeface="+mn-lt"/>
              </a:rPr>
              <a:t> </a:t>
            </a:r>
            <a:r>
              <a:rPr lang="en-US" sz="1200" dirty="0" err="1">
                <a:ea typeface="+mn-lt"/>
                <a:cs typeface="+mn-lt"/>
              </a:rPr>
              <a:t>confinamiento</a:t>
            </a:r>
            <a:r>
              <a:rPr lang="en-US" sz="1200" dirty="0">
                <a:ea typeface="+mn-lt"/>
                <a:cs typeface="+mn-lt"/>
              </a:rPr>
              <a:t> es mayor y </a:t>
            </a:r>
            <a:r>
              <a:rPr lang="en-US" sz="1200" dirty="0" err="1">
                <a:ea typeface="+mn-lt"/>
                <a:cs typeface="+mn-lt"/>
              </a:rPr>
              <a:t>el</a:t>
            </a:r>
            <a:r>
              <a:rPr lang="en-US" sz="1200" dirty="0">
                <a:ea typeface="+mn-lt"/>
                <a:cs typeface="+mn-lt"/>
              </a:rPr>
              <a:t> </a:t>
            </a:r>
            <a:r>
              <a:rPr lang="en-US" sz="1200" dirty="0" err="1">
                <a:ea typeface="+mn-lt"/>
                <a:cs typeface="+mn-lt"/>
              </a:rPr>
              <a:t>acoplamiento</a:t>
            </a:r>
            <a:r>
              <a:rPr lang="en-US" sz="1200" dirty="0">
                <a:ea typeface="+mn-lt"/>
                <a:cs typeface="+mn-lt"/>
              </a:rPr>
              <a:t> se </a:t>
            </a:r>
            <a:r>
              <a:rPr lang="en-US" sz="1200" dirty="0" err="1">
                <a:ea typeface="+mn-lt"/>
                <a:cs typeface="+mn-lt"/>
              </a:rPr>
              <a:t>mantiene</a:t>
            </a:r>
            <a:r>
              <a:rPr lang="en-US" sz="1200" dirty="0">
                <a:ea typeface="+mn-lt"/>
                <a:cs typeface="+mn-lt"/>
              </a:rPr>
              <a:t> </a:t>
            </a:r>
            <a:r>
              <a:rPr lang="en-US" sz="1200" dirty="0" err="1">
                <a:ea typeface="+mn-lt"/>
                <a:cs typeface="+mn-lt"/>
              </a:rPr>
              <a:t>más</a:t>
            </a:r>
            <a:r>
              <a:rPr lang="en-US" sz="1200" dirty="0">
                <a:ea typeface="+mn-lt"/>
                <a:cs typeface="+mn-lt"/>
              </a:rPr>
              <a:t> </a:t>
            </a:r>
            <a:r>
              <a:rPr lang="en-US" sz="1200" dirty="0" err="1">
                <a:ea typeface="+mn-lt"/>
                <a:cs typeface="+mn-lt"/>
              </a:rPr>
              <a:t>estable</a:t>
            </a:r>
            <a:r>
              <a:rPr lang="en-US" sz="1200" dirty="0">
                <a:ea typeface="+mn-lt"/>
                <a:cs typeface="+mn-lt"/>
              </a:rPr>
              <a:t>, </a:t>
            </a:r>
            <a:r>
              <a:rPr lang="en-US" sz="1200" dirty="0" err="1">
                <a:ea typeface="+mn-lt"/>
                <a:cs typeface="+mn-lt"/>
              </a:rPr>
              <a:t>por</a:t>
            </a:r>
            <a:r>
              <a:rPr lang="en-US" sz="1200" dirty="0">
                <a:ea typeface="+mn-lt"/>
                <a:cs typeface="+mn-lt"/>
              </a:rPr>
              <a:t> lo </a:t>
            </a:r>
            <a:r>
              <a:rPr lang="en-US" sz="1200" dirty="0" err="1">
                <a:ea typeface="+mn-lt"/>
                <a:cs typeface="+mn-lt"/>
              </a:rPr>
              <a:t>que</a:t>
            </a:r>
            <a:r>
              <a:rPr lang="en-US" sz="1200" dirty="0">
                <a:ea typeface="+mn-lt"/>
                <a:cs typeface="+mn-lt"/>
              </a:rPr>
              <a:t> Lπ </a:t>
            </a:r>
            <a:r>
              <a:rPr lang="en-US" sz="1200" dirty="0" err="1">
                <a:ea typeface="+mn-lt"/>
                <a:cs typeface="+mn-lt"/>
              </a:rPr>
              <a:t>crece</a:t>
            </a:r>
            <a:r>
              <a:rPr lang="en-US" sz="1200" dirty="0">
                <a:ea typeface="+mn-lt"/>
                <a:cs typeface="+mn-lt"/>
              </a:rPr>
              <a:t> de forma </a:t>
            </a:r>
            <a:r>
              <a:rPr lang="en-US" sz="1200" dirty="0" err="1">
                <a:ea typeface="+mn-lt"/>
                <a:cs typeface="+mn-lt"/>
              </a:rPr>
              <a:t>progresiva</a:t>
            </a:r>
            <a:r>
              <a:rPr lang="en-US" sz="1200" dirty="0">
                <a:ea typeface="+mn-lt"/>
                <a:cs typeface="+mn-lt"/>
              </a:rPr>
              <a:t>. En </a:t>
            </a:r>
            <a:r>
              <a:rPr lang="en-US" sz="1200" dirty="0" err="1">
                <a:ea typeface="+mn-lt"/>
                <a:cs typeface="+mn-lt"/>
              </a:rPr>
              <a:t>cambio</a:t>
            </a:r>
            <a:r>
              <a:rPr lang="en-US" sz="1200" dirty="0">
                <a:ea typeface="+mn-lt"/>
                <a:cs typeface="+mn-lt"/>
              </a:rPr>
              <a:t>, en </a:t>
            </a:r>
            <a:r>
              <a:rPr lang="en-US" sz="1200" b="1" dirty="0">
                <a:ea typeface="+mn-lt"/>
                <a:cs typeface="+mn-lt"/>
              </a:rPr>
              <a:t>shallow</a:t>
            </a:r>
            <a:r>
              <a:rPr lang="en-US" sz="1200" dirty="0">
                <a:ea typeface="+mn-lt"/>
                <a:cs typeface="+mn-lt"/>
              </a:rPr>
              <a:t>, </a:t>
            </a:r>
            <a:r>
              <a:rPr lang="en-US" sz="1200" dirty="0" err="1">
                <a:ea typeface="+mn-lt"/>
                <a:cs typeface="+mn-lt"/>
              </a:rPr>
              <a:t>el</a:t>
            </a:r>
            <a:r>
              <a:rPr lang="en-US" sz="1200" dirty="0">
                <a:ea typeface="+mn-lt"/>
                <a:cs typeface="+mn-lt"/>
              </a:rPr>
              <a:t> modo (</a:t>
            </a:r>
            <a:r>
              <a:rPr lang="en-US" sz="1200" dirty="0" err="1">
                <a:ea typeface="+mn-lt"/>
                <a:cs typeface="+mn-lt"/>
              </a:rPr>
              <a:t>especialmente</a:t>
            </a:r>
            <a:r>
              <a:rPr lang="en-US" sz="1200" dirty="0">
                <a:ea typeface="+mn-lt"/>
                <a:cs typeface="+mn-lt"/>
              </a:rPr>
              <a:t> TM) </a:t>
            </a:r>
            <a:r>
              <a:rPr lang="en-US" sz="1200" dirty="0" err="1">
                <a:ea typeface="+mn-lt"/>
                <a:cs typeface="+mn-lt"/>
              </a:rPr>
              <a:t>está</a:t>
            </a:r>
            <a:r>
              <a:rPr lang="en-US" sz="1200" dirty="0">
                <a:ea typeface="+mn-lt"/>
                <a:cs typeface="+mn-lt"/>
              </a:rPr>
              <a:t> </a:t>
            </a:r>
            <a:r>
              <a:rPr lang="en-US" sz="1200" dirty="0" err="1">
                <a:ea typeface="+mn-lt"/>
                <a:cs typeface="+mn-lt"/>
              </a:rPr>
              <a:t>menos</a:t>
            </a:r>
            <a:r>
              <a:rPr lang="en-US" sz="1200" dirty="0">
                <a:ea typeface="+mn-lt"/>
                <a:cs typeface="+mn-lt"/>
              </a:rPr>
              <a:t> </a:t>
            </a:r>
            <a:r>
              <a:rPr lang="en-US" sz="1200" dirty="0" err="1">
                <a:ea typeface="+mn-lt"/>
                <a:cs typeface="+mn-lt"/>
              </a:rPr>
              <a:t>confinado</a:t>
            </a:r>
            <a:r>
              <a:rPr lang="en-US" sz="1200" dirty="0">
                <a:ea typeface="+mn-lt"/>
                <a:cs typeface="+mn-lt"/>
              </a:rPr>
              <a:t> </a:t>
            </a:r>
            <a:r>
              <a:rPr lang="en-US" sz="1200" dirty="0" err="1">
                <a:ea typeface="+mn-lt"/>
                <a:cs typeface="+mn-lt"/>
              </a:rPr>
              <a:t>debido</a:t>
            </a:r>
            <a:r>
              <a:rPr lang="en-US" sz="1200" dirty="0">
                <a:ea typeface="+mn-lt"/>
                <a:cs typeface="+mn-lt"/>
              </a:rPr>
              <a:t> al slab, lo </a:t>
            </a:r>
            <a:r>
              <a:rPr lang="en-US" sz="1200" dirty="0" err="1">
                <a:ea typeface="+mn-lt"/>
                <a:cs typeface="+mn-lt"/>
              </a:rPr>
              <a:t>que</a:t>
            </a:r>
            <a:r>
              <a:rPr lang="en-US" sz="1200" dirty="0">
                <a:ea typeface="+mn-lt"/>
                <a:cs typeface="+mn-lt"/>
              </a:rPr>
              <a:t> </a:t>
            </a:r>
            <a:r>
              <a:rPr lang="en-US" sz="1200" dirty="0" err="1">
                <a:ea typeface="+mn-lt"/>
                <a:cs typeface="+mn-lt"/>
              </a:rPr>
              <a:t>hace</a:t>
            </a:r>
            <a:r>
              <a:rPr lang="en-US" sz="1200" dirty="0">
                <a:ea typeface="+mn-lt"/>
                <a:cs typeface="+mn-lt"/>
              </a:rPr>
              <a:t> </a:t>
            </a:r>
            <a:r>
              <a:rPr lang="en-US" sz="1200" dirty="0" err="1">
                <a:ea typeface="+mn-lt"/>
                <a:cs typeface="+mn-lt"/>
              </a:rPr>
              <a:t>que</a:t>
            </a:r>
            <a:r>
              <a:rPr lang="en-US" sz="1200" dirty="0">
                <a:ea typeface="+mn-lt"/>
                <a:cs typeface="+mn-lt"/>
              </a:rPr>
              <a:t> Δneff </a:t>
            </a:r>
            <a:r>
              <a:rPr lang="en-US" sz="1200" dirty="0" err="1">
                <a:ea typeface="+mn-lt"/>
                <a:cs typeface="+mn-lt"/>
              </a:rPr>
              <a:t>disminuya</a:t>
            </a:r>
            <a:r>
              <a:rPr lang="en-US" sz="1200" dirty="0">
                <a:ea typeface="+mn-lt"/>
                <a:cs typeface="+mn-lt"/>
              </a:rPr>
              <a:t> </a:t>
            </a:r>
            <a:r>
              <a:rPr lang="en-US" sz="1200" dirty="0" err="1">
                <a:ea typeface="+mn-lt"/>
                <a:cs typeface="+mn-lt"/>
              </a:rPr>
              <a:t>más</a:t>
            </a:r>
            <a:r>
              <a:rPr lang="en-US" sz="1200" dirty="0">
                <a:ea typeface="+mn-lt"/>
                <a:cs typeface="+mn-lt"/>
              </a:rPr>
              <a:t> </a:t>
            </a:r>
            <a:r>
              <a:rPr lang="en-US" sz="1200" dirty="0" err="1">
                <a:ea typeface="+mn-lt"/>
                <a:cs typeface="+mn-lt"/>
              </a:rPr>
              <a:t>rápido</a:t>
            </a:r>
            <a:r>
              <a:rPr lang="en-US" sz="1200" dirty="0">
                <a:ea typeface="+mn-lt"/>
                <a:cs typeface="+mn-lt"/>
              </a:rPr>
              <a:t> y Lπ </a:t>
            </a:r>
            <a:r>
              <a:rPr lang="en-US" sz="1200" dirty="0" err="1">
                <a:ea typeface="+mn-lt"/>
                <a:cs typeface="+mn-lt"/>
              </a:rPr>
              <a:t>aumente</a:t>
            </a:r>
            <a:r>
              <a:rPr lang="en-US" sz="1200" dirty="0">
                <a:ea typeface="+mn-lt"/>
                <a:cs typeface="+mn-lt"/>
              </a:rPr>
              <a:t> </a:t>
            </a:r>
            <a:r>
              <a:rPr lang="en-US" sz="1200" dirty="0" err="1">
                <a:ea typeface="+mn-lt"/>
                <a:cs typeface="+mn-lt"/>
              </a:rPr>
              <a:t>mucho</a:t>
            </a:r>
            <a:r>
              <a:rPr lang="en-US" sz="1200" dirty="0">
                <a:ea typeface="+mn-lt"/>
                <a:cs typeface="+mn-lt"/>
              </a:rPr>
              <a:t> </a:t>
            </a:r>
            <a:r>
              <a:rPr lang="en-US" sz="1200" dirty="0" err="1">
                <a:ea typeface="+mn-lt"/>
                <a:cs typeface="+mn-lt"/>
              </a:rPr>
              <a:t>más</a:t>
            </a:r>
            <a:r>
              <a:rPr lang="en-US" sz="1200" dirty="0">
                <a:ea typeface="+mn-lt"/>
                <a:cs typeface="+mn-lt"/>
              </a:rPr>
              <a:t> </a:t>
            </a:r>
            <a:r>
              <a:rPr lang="en-US" sz="1200" dirty="0" err="1">
                <a:ea typeface="+mn-lt"/>
                <a:cs typeface="+mn-lt"/>
              </a:rPr>
              <a:t>bruscamente</a:t>
            </a:r>
            <a:r>
              <a:rPr lang="en-US" sz="1200" dirty="0">
                <a:ea typeface="+mn-lt"/>
                <a:cs typeface="+mn-lt"/>
              </a:rPr>
              <a:t>, </a:t>
            </a:r>
            <a:r>
              <a:rPr lang="en-US" sz="1200" dirty="0" err="1">
                <a:ea typeface="+mn-lt"/>
                <a:cs typeface="+mn-lt"/>
              </a:rPr>
              <a:t>llegando</a:t>
            </a:r>
            <a:r>
              <a:rPr lang="en-US" sz="1200" dirty="0">
                <a:ea typeface="+mn-lt"/>
                <a:cs typeface="+mn-lt"/>
              </a:rPr>
              <a:t> a </a:t>
            </a:r>
            <a:r>
              <a:rPr lang="en-US" sz="1200" dirty="0" err="1">
                <a:ea typeface="+mn-lt"/>
                <a:cs typeface="+mn-lt"/>
              </a:rPr>
              <a:t>valores</a:t>
            </a:r>
            <a:r>
              <a:rPr lang="en-US" sz="1200" dirty="0">
                <a:ea typeface="+mn-lt"/>
                <a:cs typeface="+mn-lt"/>
              </a:rPr>
              <a:t> </a:t>
            </a:r>
            <a:r>
              <a:rPr lang="en-US" sz="1200" dirty="0" err="1">
                <a:ea typeface="+mn-lt"/>
                <a:cs typeface="+mn-lt"/>
              </a:rPr>
              <a:t>extremadamente</a:t>
            </a:r>
            <a:r>
              <a:rPr lang="en-US" sz="1200" dirty="0">
                <a:ea typeface="+mn-lt"/>
                <a:cs typeface="+mn-lt"/>
              </a:rPr>
              <a:t> altos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4" name="Imagen 3" descr="Gráfico, Gráfico de líneas&#10;&#10;El contenido generado por IA puede ser incorrecto.">
            <a:extLst>
              <a:ext uri="{FF2B5EF4-FFF2-40B4-BE49-F238E27FC236}">
                <a16:creationId xmlns:a16="http://schemas.microsoft.com/office/drawing/2014/main" id="{72111E4D-FADF-E4A3-82F9-6B16A96A556C}"/>
              </a:ext>
            </a:extLst>
          </p:cNvPr>
          <p:cNvPicPr>
            <a:picLocks noChangeAspect="1"/>
          </p:cNvPicPr>
          <p:nvPr/>
        </p:nvPicPr>
        <p:blipFill>
          <a:blip r:embed="rId7"/>
          <a:stretch>
            <a:fillRect/>
          </a:stretch>
        </p:blipFill>
        <p:spPr>
          <a:xfrm>
            <a:off x="1215902" y="1508071"/>
            <a:ext cx="4192403" cy="3243805"/>
          </a:xfrm>
          <a:prstGeom prst="rect">
            <a:avLst/>
          </a:prstGeom>
        </p:spPr>
      </p:pic>
      <p:pic>
        <p:nvPicPr>
          <p:cNvPr id="10" name="Imagen 9" descr="Gráfico, Gráfico de líneas&#10;&#10;El contenido generado por IA puede ser incorrecto.">
            <a:extLst>
              <a:ext uri="{FF2B5EF4-FFF2-40B4-BE49-F238E27FC236}">
                <a16:creationId xmlns:a16="http://schemas.microsoft.com/office/drawing/2014/main" id="{A8C0E7A2-A9B6-7EE8-69D3-998C7530494F}"/>
              </a:ext>
            </a:extLst>
          </p:cNvPr>
          <p:cNvPicPr>
            <a:picLocks noChangeAspect="1"/>
          </p:cNvPicPr>
          <p:nvPr/>
        </p:nvPicPr>
        <p:blipFill>
          <a:blip r:embed="rId8"/>
          <a:stretch>
            <a:fillRect/>
          </a:stretch>
        </p:blipFill>
        <p:spPr>
          <a:xfrm>
            <a:off x="7086600" y="1508071"/>
            <a:ext cx="4200156" cy="2727601"/>
          </a:xfrm>
          <a:prstGeom prst="rect">
            <a:avLst/>
          </a:prstGeom>
        </p:spPr>
      </p:pic>
    </p:spTree>
    <p:extLst>
      <p:ext uri="{BB962C8B-B14F-4D97-AF65-F5344CB8AC3E}">
        <p14:creationId xmlns:p14="http://schemas.microsoft.com/office/powerpoint/2010/main" val="179796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r>
              <a:rPr lang="es-ES" sz="1200" dirty="0"/>
              <a:t>En las guías tipo </a:t>
            </a:r>
            <a:r>
              <a:rPr lang="es-ES" sz="1200" dirty="0" err="1"/>
              <a:t>deep</a:t>
            </a:r>
            <a:r>
              <a:rPr lang="es-ES" sz="1200" dirty="0"/>
              <a:t>, la distancia necesaria para que la energía se transfiera por completo disminuye de forma suave y constante conforme aumenta la longitud de onda, tanto para la luz en polarización TE como en TM. En este tipo de guía, el comportamiento es predecible y la longitud de acoplo es siempre mayor para los modos TE que para los TM.</a:t>
            </a:r>
          </a:p>
          <a:p>
            <a:r>
              <a:rPr lang="es-ES" sz="1200" dirty="0"/>
              <a:t>Por el contrario, en las guías tipo </a:t>
            </a:r>
            <a:r>
              <a:rPr lang="es-ES" sz="1200" dirty="0" err="1"/>
              <a:t>shallow</a:t>
            </a:r>
            <a:r>
              <a:rPr lang="es-ES" sz="1200" dirty="0"/>
              <a:t> la situación es muy distinta, ya que los modos TE apenas varían con el cambio de longitud de onda, mostrando una dependencia muy débil. Mientras tanto, los modos TM en estas guías requieren distancias mucho más altas y presentan un comportamiento inestable, con una fuerte bajada inicial seguida de un ligero aumento. Esto demuestra que las estructuras superficiales son mucho más sensibles a la polarización y menos estables que las guías profundas, las cuales ofrecen un funcionamiento mucho más uniforme y fácil de prever.</a:t>
            </a: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10" name="Imagen 9" descr="Gráfico, Gráfico de líneas&#10;&#10;El contenido generado por IA puede ser incorrecto.">
            <a:extLst>
              <a:ext uri="{FF2B5EF4-FFF2-40B4-BE49-F238E27FC236}">
                <a16:creationId xmlns:a16="http://schemas.microsoft.com/office/drawing/2014/main" id="{5DF70BF3-A619-6499-599C-AA996AB171D8}"/>
              </a:ext>
            </a:extLst>
          </p:cNvPr>
          <p:cNvPicPr>
            <a:picLocks noChangeAspect="1"/>
          </p:cNvPicPr>
          <p:nvPr/>
        </p:nvPicPr>
        <p:blipFill>
          <a:blip r:embed="rId7"/>
          <a:stretch>
            <a:fillRect/>
          </a:stretch>
        </p:blipFill>
        <p:spPr>
          <a:xfrm>
            <a:off x="7144482" y="1554579"/>
            <a:ext cx="3904518" cy="3119633"/>
          </a:xfrm>
          <a:prstGeom prst="rect">
            <a:avLst/>
          </a:prstGeom>
        </p:spPr>
      </p:pic>
      <p:pic>
        <p:nvPicPr>
          <p:cNvPr id="14" name="Imagen 13" descr="Gráfico, Gráfico de líneas&#10;&#10;El contenido generado por IA puede ser incorrecto.">
            <a:extLst>
              <a:ext uri="{FF2B5EF4-FFF2-40B4-BE49-F238E27FC236}">
                <a16:creationId xmlns:a16="http://schemas.microsoft.com/office/drawing/2014/main" id="{ABB143F6-5218-49E0-EF0E-F210C6F3F6B2}"/>
              </a:ext>
            </a:extLst>
          </p:cNvPr>
          <p:cNvPicPr>
            <a:picLocks noChangeAspect="1"/>
          </p:cNvPicPr>
          <p:nvPr/>
        </p:nvPicPr>
        <p:blipFill>
          <a:blip r:embed="rId8"/>
          <a:stretch>
            <a:fillRect/>
          </a:stretch>
        </p:blipFill>
        <p:spPr>
          <a:xfrm>
            <a:off x="1397610" y="1533158"/>
            <a:ext cx="3904518" cy="3141054"/>
          </a:xfrm>
          <a:prstGeom prst="rect">
            <a:avLst/>
          </a:prstGeom>
        </p:spPr>
      </p:pic>
    </p:spTree>
    <p:extLst>
      <p:ext uri="{BB962C8B-B14F-4D97-AF65-F5344CB8AC3E}">
        <p14:creationId xmlns:p14="http://schemas.microsoft.com/office/powerpoint/2010/main" val="161918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dirty="0">
                <a:ea typeface="+mn-lt"/>
                <a:cs typeface="+mn-lt"/>
              </a:rPr>
              <a:t>En </a:t>
            </a:r>
            <a:r>
              <a:rPr lang="en-US" sz="1200" dirty="0" err="1">
                <a:ea typeface="+mn-lt"/>
                <a:cs typeface="+mn-lt"/>
              </a:rPr>
              <a:t>el</a:t>
            </a:r>
            <a:r>
              <a:rPr lang="en-US" sz="1200" dirty="0">
                <a:ea typeface="+mn-lt"/>
                <a:cs typeface="+mn-lt"/>
              </a:rPr>
              <a:t> MMI coupler, la </a:t>
            </a:r>
            <a:r>
              <a:rPr lang="en-US" sz="1200" dirty="0" err="1">
                <a:ea typeface="+mn-lt"/>
                <a:cs typeface="+mn-lt"/>
              </a:rPr>
              <a:t>dependencia</a:t>
            </a:r>
            <a:r>
              <a:rPr lang="en-US" sz="1200" dirty="0">
                <a:ea typeface="+mn-lt"/>
                <a:cs typeface="+mn-lt"/>
              </a:rPr>
              <a:t> con la </a:t>
            </a:r>
            <a:r>
              <a:rPr lang="en-US" sz="1200" dirty="0" err="1">
                <a:ea typeface="+mn-lt"/>
                <a:cs typeface="+mn-lt"/>
              </a:rPr>
              <a:t>longitud</a:t>
            </a:r>
            <a:r>
              <a:rPr lang="en-US" sz="1200" dirty="0">
                <a:ea typeface="+mn-lt"/>
                <a:cs typeface="+mn-lt"/>
              </a:rPr>
              <a:t> de </a:t>
            </a:r>
            <a:r>
              <a:rPr lang="en-US" sz="1200" dirty="0" err="1">
                <a:ea typeface="+mn-lt"/>
                <a:cs typeface="+mn-lt"/>
              </a:rPr>
              <a:t>onda</a:t>
            </a:r>
            <a:r>
              <a:rPr lang="en-US" sz="1200" dirty="0">
                <a:ea typeface="+mn-lt"/>
                <a:cs typeface="+mn-lt"/>
              </a:rPr>
              <a:t> es suave y </a:t>
            </a:r>
            <a:r>
              <a:rPr lang="en-US" sz="1200" dirty="0" err="1">
                <a:ea typeface="+mn-lt"/>
                <a:cs typeface="+mn-lt"/>
              </a:rPr>
              <a:t>casi</a:t>
            </a:r>
            <a:r>
              <a:rPr lang="en-US" sz="1200" dirty="0">
                <a:ea typeface="+mn-lt"/>
                <a:cs typeface="+mn-lt"/>
              </a:rPr>
              <a:t> lineal para TE y TM. A </a:t>
            </a:r>
            <a:r>
              <a:rPr lang="en-US" sz="1200" dirty="0" err="1">
                <a:ea typeface="+mn-lt"/>
                <a:cs typeface="+mn-lt"/>
              </a:rPr>
              <a:t>diferencia</a:t>
            </a:r>
            <a:r>
              <a:rPr lang="en-US" sz="1200" dirty="0">
                <a:ea typeface="+mn-lt"/>
                <a:cs typeface="+mn-lt"/>
              </a:rPr>
              <a:t> del directional coupler, </a:t>
            </a:r>
            <a:r>
              <a:rPr lang="en-US" sz="1200" dirty="0" err="1">
                <a:ea typeface="+mn-lt"/>
                <a:cs typeface="+mn-lt"/>
              </a:rPr>
              <a:t>donde</a:t>
            </a:r>
            <a:r>
              <a:rPr lang="en-US" sz="1200" dirty="0">
                <a:ea typeface="+mn-lt"/>
                <a:cs typeface="+mn-lt"/>
              </a:rPr>
              <a:t> </a:t>
            </a:r>
            <a:r>
              <a:rPr lang="en-US" sz="1200" dirty="0" err="1">
                <a:ea typeface="+mn-lt"/>
                <a:cs typeface="+mn-lt"/>
              </a:rPr>
              <a:t>pequeños</a:t>
            </a:r>
            <a:r>
              <a:rPr lang="en-US" sz="1200" dirty="0">
                <a:ea typeface="+mn-lt"/>
                <a:cs typeface="+mn-lt"/>
              </a:rPr>
              <a:t> </a:t>
            </a:r>
            <a:r>
              <a:rPr lang="en-US" sz="1200" dirty="0" err="1">
                <a:ea typeface="+mn-lt"/>
                <a:cs typeface="+mn-lt"/>
              </a:rPr>
              <a:t>cambios</a:t>
            </a:r>
            <a:r>
              <a:rPr lang="en-US" sz="1200" dirty="0">
                <a:ea typeface="+mn-lt"/>
                <a:cs typeface="+mn-lt"/>
              </a:rPr>
              <a:t> </a:t>
            </a:r>
            <a:r>
              <a:rPr lang="en-US" sz="1200" dirty="0" err="1">
                <a:ea typeface="+mn-lt"/>
                <a:cs typeface="+mn-lt"/>
              </a:rPr>
              <a:t>producen</a:t>
            </a:r>
            <a:r>
              <a:rPr lang="en-US" sz="1200" dirty="0">
                <a:ea typeface="+mn-lt"/>
                <a:cs typeface="+mn-lt"/>
              </a:rPr>
              <a:t> </a:t>
            </a:r>
            <a:r>
              <a:rPr lang="en-US" sz="1200" dirty="0" err="1">
                <a:ea typeface="+mn-lt"/>
                <a:cs typeface="+mn-lt"/>
              </a:rPr>
              <a:t>grandes</a:t>
            </a:r>
            <a:r>
              <a:rPr lang="en-US" sz="1200" dirty="0">
                <a:ea typeface="+mn-lt"/>
                <a:cs typeface="+mn-lt"/>
              </a:rPr>
              <a:t> </a:t>
            </a:r>
            <a:r>
              <a:rPr lang="en-US" sz="1200" dirty="0" err="1">
                <a:ea typeface="+mn-lt"/>
                <a:cs typeface="+mn-lt"/>
              </a:rPr>
              <a:t>variaciones</a:t>
            </a:r>
            <a:r>
              <a:rPr lang="en-US" sz="1200" dirty="0">
                <a:ea typeface="+mn-lt"/>
                <a:cs typeface="+mn-lt"/>
              </a:rPr>
              <a:t> </a:t>
            </a:r>
            <a:r>
              <a:rPr lang="en-US" sz="1200" dirty="0" err="1">
                <a:ea typeface="+mn-lt"/>
                <a:cs typeface="+mn-lt"/>
              </a:rPr>
              <a:t>en</a:t>
            </a:r>
            <a:r>
              <a:rPr lang="en-US" sz="1200" dirty="0">
                <a:ea typeface="+mn-lt"/>
                <a:cs typeface="+mn-lt"/>
              </a:rPr>
              <a:t> Lπ , </a:t>
            </a:r>
            <a:r>
              <a:rPr lang="en-US" sz="1200" dirty="0" err="1">
                <a:ea typeface="+mn-lt"/>
                <a:cs typeface="+mn-lt"/>
              </a:rPr>
              <a:t>el</a:t>
            </a:r>
            <a:r>
              <a:rPr lang="en-US" sz="1200" dirty="0">
                <a:ea typeface="+mn-lt"/>
                <a:cs typeface="+mn-lt"/>
              </a:rPr>
              <a:t> MMI es </a:t>
            </a:r>
            <a:r>
              <a:rPr lang="en-US" sz="1200" dirty="0" err="1">
                <a:ea typeface="+mn-lt"/>
                <a:cs typeface="+mn-lt"/>
              </a:rPr>
              <a:t>más</a:t>
            </a:r>
            <a:r>
              <a:rPr lang="en-US" sz="1200" dirty="0">
                <a:ea typeface="+mn-lt"/>
                <a:cs typeface="+mn-lt"/>
              </a:rPr>
              <a:t> </a:t>
            </a:r>
            <a:r>
              <a:rPr lang="en-US" sz="1200" dirty="0" err="1">
                <a:ea typeface="+mn-lt"/>
                <a:cs typeface="+mn-lt"/>
              </a:rPr>
              <a:t>estable</a:t>
            </a:r>
            <a:r>
              <a:rPr lang="en-US" sz="1200" dirty="0">
                <a:ea typeface="+mn-lt"/>
                <a:cs typeface="+mn-lt"/>
              </a:rPr>
              <a:t> </a:t>
            </a:r>
            <a:r>
              <a:rPr lang="en-US" sz="1200" dirty="0" err="1">
                <a:ea typeface="+mn-lt"/>
                <a:cs typeface="+mn-lt"/>
              </a:rPr>
              <a:t>porque</a:t>
            </a:r>
            <a:r>
              <a:rPr lang="en-US" sz="1200" dirty="0">
                <a:ea typeface="+mn-lt"/>
                <a:cs typeface="+mn-lt"/>
              </a:rPr>
              <a:t> </a:t>
            </a:r>
            <a:r>
              <a:rPr lang="en-US" sz="1200" dirty="0" err="1">
                <a:ea typeface="+mn-lt"/>
                <a:cs typeface="+mn-lt"/>
              </a:rPr>
              <a:t>su</a:t>
            </a:r>
            <a:r>
              <a:rPr lang="en-US" sz="1200" dirty="0">
                <a:ea typeface="+mn-lt"/>
                <a:cs typeface="+mn-lt"/>
              </a:rPr>
              <a:t> </a:t>
            </a:r>
            <a:r>
              <a:rPr lang="en-US" sz="1200" dirty="0" err="1">
                <a:ea typeface="+mn-lt"/>
                <a:cs typeface="+mn-lt"/>
              </a:rPr>
              <a:t>funcionamiento</a:t>
            </a:r>
            <a:r>
              <a:rPr lang="en-US" sz="1200" dirty="0">
                <a:ea typeface="+mn-lt"/>
                <a:cs typeface="+mn-lt"/>
              </a:rPr>
              <a:t> se </a:t>
            </a:r>
            <a:r>
              <a:rPr lang="en-US" sz="1200" dirty="0" err="1">
                <a:ea typeface="+mn-lt"/>
                <a:cs typeface="+mn-lt"/>
              </a:rPr>
              <a:t>basa</a:t>
            </a:r>
            <a:r>
              <a:rPr lang="en-US" sz="1200" dirty="0">
                <a:ea typeface="+mn-lt"/>
                <a:cs typeface="+mn-lt"/>
              </a:rPr>
              <a:t> </a:t>
            </a:r>
            <a:r>
              <a:rPr lang="en-US" sz="1200" dirty="0" err="1">
                <a:ea typeface="+mn-lt"/>
                <a:cs typeface="+mn-lt"/>
              </a:rPr>
              <a:t>en</a:t>
            </a:r>
            <a:r>
              <a:rPr lang="en-US" sz="1200" dirty="0">
                <a:ea typeface="+mn-lt"/>
                <a:cs typeface="+mn-lt"/>
              </a:rPr>
              <a:t> </a:t>
            </a:r>
            <a:r>
              <a:rPr lang="en-US" sz="1200" dirty="0" err="1">
                <a:ea typeface="+mn-lt"/>
                <a:cs typeface="+mn-lt"/>
              </a:rPr>
              <a:t>múltiples</a:t>
            </a:r>
            <a:r>
              <a:rPr lang="en-US" sz="1200" dirty="0">
                <a:ea typeface="+mn-lt"/>
                <a:cs typeface="+mn-lt"/>
              </a:rPr>
              <a:t> </a:t>
            </a:r>
            <a:r>
              <a:rPr lang="en-US" sz="1200" dirty="0" err="1">
                <a:ea typeface="+mn-lt"/>
                <a:cs typeface="+mn-lt"/>
              </a:rPr>
              <a:t>modos</a:t>
            </a:r>
            <a:r>
              <a:rPr lang="en-US" sz="1200" dirty="0">
                <a:ea typeface="+mn-lt"/>
                <a:cs typeface="+mn-lt"/>
              </a:rPr>
              <a:t> (</a:t>
            </a:r>
            <a:r>
              <a:rPr lang="en-US" sz="1200" dirty="0" err="1">
                <a:ea typeface="+mn-lt"/>
                <a:cs typeface="+mn-lt"/>
              </a:rPr>
              <a:t>autoimagen</a:t>
            </a:r>
            <a:r>
              <a:rPr lang="en-US" sz="1200" dirty="0">
                <a:ea typeface="+mn-lt"/>
                <a:cs typeface="+mn-lt"/>
              </a:rPr>
              <a:t>). </a:t>
            </a:r>
            <a:r>
              <a:rPr lang="en-US" sz="1200" dirty="0" err="1">
                <a:ea typeface="+mn-lt"/>
                <a:cs typeface="+mn-lt"/>
              </a:rPr>
              <a:t>Además</a:t>
            </a:r>
            <a:r>
              <a:rPr lang="en-US" sz="1200" dirty="0">
                <a:ea typeface="+mn-lt"/>
                <a:cs typeface="+mn-lt"/>
              </a:rPr>
              <a:t>, las </a:t>
            </a:r>
            <a:r>
              <a:rPr lang="en-US" sz="1200" dirty="0" err="1">
                <a:ea typeface="+mn-lt"/>
                <a:cs typeface="+mn-lt"/>
              </a:rPr>
              <a:t>diferencias</a:t>
            </a:r>
            <a:r>
              <a:rPr lang="en-US" sz="1200" dirty="0">
                <a:ea typeface="+mn-lt"/>
                <a:cs typeface="+mn-lt"/>
              </a:rPr>
              <a:t> entre deep y shallow son </a:t>
            </a:r>
            <a:r>
              <a:rPr lang="en-US" sz="1200" dirty="0" err="1">
                <a:ea typeface="+mn-lt"/>
                <a:cs typeface="+mn-lt"/>
              </a:rPr>
              <a:t>menores</a:t>
            </a:r>
            <a:r>
              <a:rPr lang="en-US" sz="1200" dirty="0">
                <a:ea typeface="+mn-lt"/>
                <a:cs typeface="+mn-lt"/>
              </a:rPr>
              <a:t>, lo </a:t>
            </a:r>
            <a:r>
              <a:rPr lang="en-US" sz="1200" dirty="0" err="1">
                <a:ea typeface="+mn-lt"/>
                <a:cs typeface="+mn-lt"/>
              </a:rPr>
              <a:t>que</a:t>
            </a:r>
            <a:r>
              <a:rPr lang="en-US" sz="1200" dirty="0">
                <a:ea typeface="+mn-lt"/>
                <a:cs typeface="+mn-lt"/>
              </a:rPr>
              <a:t> indica </a:t>
            </a:r>
            <a:r>
              <a:rPr lang="en-US" sz="1200" dirty="0" err="1">
                <a:ea typeface="+mn-lt"/>
                <a:cs typeface="+mn-lt"/>
              </a:rPr>
              <a:t>que</a:t>
            </a:r>
            <a:r>
              <a:rPr lang="en-US" sz="1200" dirty="0">
                <a:ea typeface="+mn-lt"/>
                <a:cs typeface="+mn-lt"/>
              </a:rPr>
              <a:t> </a:t>
            </a:r>
            <a:r>
              <a:rPr lang="en-US" sz="1200" dirty="0" err="1">
                <a:ea typeface="+mn-lt"/>
                <a:cs typeface="+mn-lt"/>
              </a:rPr>
              <a:t>el</a:t>
            </a:r>
            <a:r>
              <a:rPr lang="en-US" sz="1200" dirty="0">
                <a:ea typeface="+mn-lt"/>
                <a:cs typeface="+mn-lt"/>
              </a:rPr>
              <a:t> MMI es </a:t>
            </a:r>
            <a:r>
              <a:rPr lang="en-US" sz="1200" dirty="0" err="1">
                <a:ea typeface="+mn-lt"/>
                <a:cs typeface="+mn-lt"/>
              </a:rPr>
              <a:t>más</a:t>
            </a:r>
            <a:r>
              <a:rPr lang="en-US" sz="1200" dirty="0">
                <a:ea typeface="+mn-lt"/>
                <a:cs typeface="+mn-lt"/>
              </a:rPr>
              <a:t> </a:t>
            </a:r>
            <a:r>
              <a:rPr lang="en-US" sz="1200" dirty="0" err="1">
                <a:ea typeface="+mn-lt"/>
                <a:cs typeface="+mn-lt"/>
              </a:rPr>
              <a:t>robusto</a:t>
            </a:r>
            <a:r>
              <a:rPr lang="en-US" sz="1200" dirty="0">
                <a:ea typeface="+mn-lt"/>
                <a:cs typeface="+mn-lt"/>
              </a:rPr>
              <a:t> </a:t>
            </a:r>
            <a:r>
              <a:rPr lang="en-US" sz="1200" dirty="0" err="1">
                <a:ea typeface="+mn-lt"/>
                <a:cs typeface="+mn-lt"/>
              </a:rPr>
              <a:t>frente</a:t>
            </a:r>
            <a:r>
              <a:rPr lang="en-US" sz="1200" dirty="0">
                <a:ea typeface="+mn-lt"/>
                <a:cs typeface="+mn-lt"/>
              </a:rPr>
              <a:t> a </a:t>
            </a:r>
            <a:r>
              <a:rPr lang="en-US" sz="1200" dirty="0" err="1">
                <a:ea typeface="+mn-lt"/>
                <a:cs typeface="+mn-lt"/>
              </a:rPr>
              <a:t>variaciones</a:t>
            </a:r>
            <a:r>
              <a:rPr lang="en-US" sz="1200" dirty="0">
                <a:ea typeface="+mn-lt"/>
                <a:cs typeface="+mn-lt"/>
              </a:rPr>
              <a:t> </a:t>
            </a:r>
            <a:r>
              <a:rPr lang="en-US" sz="1200" dirty="0" err="1">
                <a:ea typeface="+mn-lt"/>
                <a:cs typeface="+mn-lt"/>
              </a:rPr>
              <a:t>geométricas</a:t>
            </a:r>
            <a:r>
              <a:rPr lang="en-US" sz="1200" dirty="0">
                <a:ea typeface="+mn-lt"/>
                <a:cs typeface="+mn-lt"/>
              </a:rPr>
              <a:t> y de </a:t>
            </a:r>
            <a:r>
              <a:rPr lang="en-US" sz="1200" dirty="0" err="1">
                <a:ea typeface="+mn-lt"/>
                <a:cs typeface="+mn-lt"/>
              </a:rPr>
              <a:t>polarización</a:t>
            </a:r>
            <a:r>
              <a:rPr lang="en-US" sz="1200" dirty="0">
                <a:ea typeface="+mn-lt"/>
                <a:cs typeface="+mn-lt"/>
              </a:rPr>
              <a:t>.</a:t>
            </a:r>
            <a:endParaRPr lang="es-ES" dirty="0">
              <a:ea typeface="+mn-lt"/>
              <a:cs typeface="+mn-lt"/>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7" name="Imagen 6" descr="Gráfico, Gráfico de líneas&#10;&#10;El contenido generado por IA puede ser incorrecto.">
            <a:extLst>
              <a:ext uri="{FF2B5EF4-FFF2-40B4-BE49-F238E27FC236}">
                <a16:creationId xmlns:a16="http://schemas.microsoft.com/office/drawing/2014/main" id="{5B524E50-8047-70E6-4BD7-E7B9E2D2A6FA}"/>
              </a:ext>
            </a:extLst>
          </p:cNvPr>
          <p:cNvPicPr>
            <a:picLocks noChangeAspect="1"/>
          </p:cNvPicPr>
          <p:nvPr/>
        </p:nvPicPr>
        <p:blipFill>
          <a:blip r:embed="rId7"/>
          <a:stretch>
            <a:fillRect/>
          </a:stretch>
        </p:blipFill>
        <p:spPr>
          <a:xfrm>
            <a:off x="1394313" y="1506049"/>
            <a:ext cx="3987312" cy="3236302"/>
          </a:xfrm>
          <a:prstGeom prst="rect">
            <a:avLst/>
          </a:prstGeom>
        </p:spPr>
      </p:pic>
      <p:pic>
        <p:nvPicPr>
          <p:cNvPr id="8" name="Imagen 7" descr="Gráfico, Gráfico de líneas&#10;&#10;El contenido generado por IA puede ser incorrecto.">
            <a:extLst>
              <a:ext uri="{FF2B5EF4-FFF2-40B4-BE49-F238E27FC236}">
                <a16:creationId xmlns:a16="http://schemas.microsoft.com/office/drawing/2014/main" id="{9D9E6D3E-DB6E-AF0E-BD01-B5CFD4F3B633}"/>
              </a:ext>
            </a:extLst>
          </p:cNvPr>
          <p:cNvPicPr>
            <a:picLocks noChangeAspect="1"/>
          </p:cNvPicPr>
          <p:nvPr/>
        </p:nvPicPr>
        <p:blipFill>
          <a:blip r:embed="rId8"/>
          <a:stretch>
            <a:fillRect/>
          </a:stretch>
        </p:blipFill>
        <p:spPr>
          <a:xfrm>
            <a:off x="7074143" y="1516689"/>
            <a:ext cx="3987312" cy="3215020"/>
          </a:xfrm>
          <a:prstGeom prst="rect">
            <a:avLst/>
          </a:prstGeom>
        </p:spPr>
      </p:pic>
    </p:spTree>
    <p:extLst>
      <p:ext uri="{BB962C8B-B14F-4D97-AF65-F5344CB8AC3E}">
        <p14:creationId xmlns:p14="http://schemas.microsoft.com/office/powerpoint/2010/main" val="3826328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r>
              <a:rPr lang="es-ES" sz="1200" dirty="0"/>
              <a:t>Cuando se ensancha el cuerpo del MMI, la distancia necesaria para que la luz se acople aumenta de manera casi proporcional, y esto ocurre de forma muy parecida tanto en las guías profundas como en las superficiales. Esto sucede porque, al haber más espacio, la luz puede viajar de más formas distintas y requiere un recorrido más largo para volver a formar la imagen de entrada. En este aspecto, apenas hay diferencias notables entre usar una configuración u otra.</a:t>
            </a:r>
          </a:p>
          <a:p>
            <a:r>
              <a:rPr lang="es-ES" sz="1200" dirty="0"/>
              <a:t>En cuanto a la sensibilidad al tipo de luz, no hay un punto perfecto donde el dispositivo funcione exactamente igual para las señales TE y TM, ya que cada una se propaga a una velocidad distinta. Aun así, es posible ajustar el diseño para que esas distancias de acoplo sean muy parecidas, logrando que el dispositivo funcione de forma casi independiente del tipo de polarización que reciba.</a:t>
            </a: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7" name="Imagen 6" descr="Gráfico, Gráfico de líneas&#10;&#10;El contenido generado por IA puede ser incorrecto.">
            <a:extLst>
              <a:ext uri="{FF2B5EF4-FFF2-40B4-BE49-F238E27FC236}">
                <a16:creationId xmlns:a16="http://schemas.microsoft.com/office/drawing/2014/main" id="{CACF07BF-07AC-669B-7E14-124A1B394425}"/>
              </a:ext>
            </a:extLst>
          </p:cNvPr>
          <p:cNvPicPr>
            <a:picLocks noChangeAspect="1"/>
          </p:cNvPicPr>
          <p:nvPr/>
        </p:nvPicPr>
        <p:blipFill>
          <a:blip r:embed="rId7"/>
          <a:stretch>
            <a:fillRect/>
          </a:stretch>
        </p:blipFill>
        <p:spPr>
          <a:xfrm>
            <a:off x="1437909" y="1513010"/>
            <a:ext cx="3970460" cy="3163765"/>
          </a:xfrm>
          <a:prstGeom prst="rect">
            <a:avLst/>
          </a:prstGeom>
        </p:spPr>
      </p:pic>
      <p:pic>
        <p:nvPicPr>
          <p:cNvPr id="8" name="Imagen 7" descr="Gráfico, Gráfico de líneas&#10;&#10;El contenido generado por IA puede ser incorrecto.">
            <a:extLst>
              <a:ext uri="{FF2B5EF4-FFF2-40B4-BE49-F238E27FC236}">
                <a16:creationId xmlns:a16="http://schemas.microsoft.com/office/drawing/2014/main" id="{65176775-44E6-E77E-FC00-4B63D4266B5D}"/>
              </a:ext>
            </a:extLst>
          </p:cNvPr>
          <p:cNvPicPr>
            <a:picLocks noChangeAspect="1"/>
          </p:cNvPicPr>
          <p:nvPr/>
        </p:nvPicPr>
        <p:blipFill>
          <a:blip r:embed="rId8"/>
          <a:stretch>
            <a:fillRect/>
          </a:stretch>
        </p:blipFill>
        <p:spPr>
          <a:xfrm>
            <a:off x="7202732" y="1539386"/>
            <a:ext cx="3917706" cy="3119804"/>
          </a:xfrm>
          <a:prstGeom prst="rect">
            <a:avLst/>
          </a:prstGeom>
        </p:spPr>
      </p:pic>
    </p:spTree>
    <p:extLst>
      <p:ext uri="{BB962C8B-B14F-4D97-AF65-F5344CB8AC3E}">
        <p14:creationId xmlns:p14="http://schemas.microsoft.com/office/powerpoint/2010/main" val="42901314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22</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315676089F187543AA99C0A8B7AABBF0" ma:contentTypeVersion="3" ma:contentTypeDescription="Crear nuevo documento." ma:contentTypeScope="" ma:versionID="6b93a700db2c669d7bf6fe695110710d">
  <xsd:schema xmlns:xsd="http://www.w3.org/2001/XMLSchema" xmlns:xs="http://www.w3.org/2001/XMLSchema" xmlns:p="http://schemas.microsoft.com/office/2006/metadata/properties" xmlns:ns2="9e2adbf5-1345-474f-a313-aad13b917699" targetNamespace="http://schemas.microsoft.com/office/2006/metadata/properties" ma:root="true" ma:fieldsID="55ce8b8f8ed3bbb9007cedc7cfd21244" ns2:_="">
    <xsd:import namespace="9e2adbf5-1345-474f-a313-aad13b91769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2adbf5-1345-474f-a313-aad13b9176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4C01FF3-9057-4EE0-AF52-564B32419BBE}">
  <ds:schemaRefs>
    <ds:schemaRef ds:uri="http://schemas.microsoft.com/sharepoint/v3/contenttype/forms"/>
  </ds:schemaRefs>
</ds:datastoreItem>
</file>

<file path=customXml/itemProps2.xml><?xml version="1.0" encoding="utf-8"?>
<ds:datastoreItem xmlns:ds="http://schemas.openxmlformats.org/officeDocument/2006/customXml" ds:itemID="{E2653D22-1F8F-4A9E-A01A-CDB67276084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FE45E39-5DB8-4A83-9EAE-509B9DCEDD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2adbf5-1345-474f-a313-aad13b9176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949</TotalTime>
  <Words>2698</Words>
  <Application>Microsoft Office PowerPoint</Application>
  <PresentationFormat>Panorámica</PresentationFormat>
  <Paragraphs>291</Paragraphs>
  <Slides>22</Slides>
  <Notes>17</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22</vt:i4>
      </vt:variant>
    </vt:vector>
  </HeadingPairs>
  <TitlesOfParts>
    <vt:vector size="31" baseType="lpstr">
      <vt:lpstr>Aptos</vt:lpstr>
      <vt:lpstr>Arial</vt:lpstr>
      <vt:lpstr>Arial,Sans-Serif</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Learning outcome #1 – Directional coupler cross-section in GDSFactory </vt:lpstr>
      <vt:lpstr>Learning outcome #1 – Directional coupler cross-section in GDSFactory </vt:lpstr>
      <vt:lpstr>Learning outcome #1 – Directional coupler cross-section in GDSFactory </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#4 – Parallel uncoupled waveguides – TE0 mode Wavelength 1.55 µm, width 1.0 µm, gap to be found for uncoupled wvgs</vt:lpstr>
      <vt:lpstr>Presentación de PowerPoint</vt:lpstr>
      <vt:lpstr>Learning outcome #5 – Multimode Interference (MMI) Coupler cross-section</vt:lpstr>
      <vt:lpstr>Learning outcome #5 – Multimode Interference (MMI) Coupler cross-section</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10 µm</vt:lpstr>
      <vt:lpstr>Extra #1 – Directional coupler gap dependence Wavelength 1.55 µm, width 1.0 µm, gap 0.2-2.4 µm (step 0.2 µm) </vt:lpstr>
      <vt:lpstr>Extra #2 – Directional wavelength dependence Wavelengths from 1.5 to 1.7 µm, gap = 0.6 µm, width 1.0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Pablo Monserrat Lopez-Ceron</cp:lastModifiedBy>
  <cp:revision>246</cp:revision>
  <dcterms:created xsi:type="dcterms:W3CDTF">2025-01-27T02:46:57Z</dcterms:created>
  <dcterms:modified xsi:type="dcterms:W3CDTF">2026-05-03T20:14:13Z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0x010100315676089F187543AA99C0A8B7AABBF0</vt:lpwstr>
  </property>
</Properties>
</file>